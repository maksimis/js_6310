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"/>
      <p:regular r:id="rId27"/>
      <p:bold r:id="rId28"/>
      <p:italic r:id="rId29"/>
      <p:boldItalic r:id="rId30"/>
    </p:embeddedFont>
    <p:embeddedFont>
      <p:font typeface="Roboto Mono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-bold.fntdata"/><Relationship Id="rId27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Mono-regular.fntdata"/><Relationship Id="rId3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33" Type="http://schemas.openxmlformats.org/officeDocument/2006/relationships/font" Target="fonts/RobotoMono-italic.fntdata"/><Relationship Id="rId10" Type="http://schemas.openxmlformats.org/officeDocument/2006/relationships/slide" Target="slides/slide5.xml"/><Relationship Id="rId32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RobotoMono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9056beb8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9056beb8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9056beb8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9056beb8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69056beb8d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69056beb8d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69056beb8d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69056beb8d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69056beb8d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69056beb8d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8d3ba6f27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8d3ba6f2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69056beb8d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69056beb8d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8d3ba6f279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8d3ba6f27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9056beb8d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9056beb8d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8d3ba6f279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8d3ba6f279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d3ba6f279_1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d3ba6f279_1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69056beb8d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69056beb8d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d3ba6f279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d3ba6f279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9056beb8d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9056beb8d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d3ba6f279_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d3ba6f279_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8d3ba6f279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8d3ba6f279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8d3ba6f279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8d3ba6f279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9056beb8d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9056beb8d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8d3ba6f279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8d3ba6f279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69056beb8d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69056beb8d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6c9343a3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6c9343a3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2125" y="352350"/>
            <a:ext cx="8520600" cy="162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TypeScript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4422325" y="2877900"/>
            <a:ext cx="4450800" cy="200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Программирование на JavaScript</a:t>
            </a:r>
            <a:br>
              <a:rPr lang="ru" sz="4291"/>
            </a:br>
            <a:r>
              <a:rPr lang="ru" sz="4291"/>
              <a:t>Преподаватель: Исанькин М.А.</a:t>
            </a:r>
            <a:br>
              <a:rPr lang="ru" sz="4291"/>
            </a:br>
            <a:br>
              <a:rPr lang="ru" sz="4291"/>
            </a:br>
            <a:r>
              <a:rPr lang="ru" sz="4291"/>
              <a:t>09.03.01 ИВТ ПИТТП</a:t>
            </a:r>
            <a:endParaRPr sz="4291"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ru" sz="4291"/>
              <a:t>Группа 6310</a:t>
            </a:r>
            <a:br>
              <a:rPr lang="ru"/>
            </a:br>
            <a:br>
              <a:rPr lang="ru"/>
            </a:br>
            <a:r>
              <a:rPr lang="ru" sz="4291"/>
              <a:t>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224225" y="1092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Что такое TypeScript?</a:t>
            </a:r>
            <a:endParaRPr/>
          </a:p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224225" y="681900"/>
            <a:ext cx="5358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TypeScript — строго типизированный язык программирования на основе JavaScript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Надмножество JavaScript — любой валидный JS код является валидным TS кодом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Компилируется в JavaScript — браузеры выполняют JS, а не TS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Разработан Microsoft в 2012 году</a:t>
            </a:r>
            <a:endParaRPr sz="1800">
              <a:solidFill>
                <a:srgbClr val="595959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91400" y="232213"/>
            <a:ext cx="3437699" cy="4679076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4"/>
          <p:cNvSpPr txBox="1"/>
          <p:nvPr/>
        </p:nvSpPr>
        <p:spPr>
          <a:xfrm>
            <a:off x="176300" y="3083100"/>
            <a:ext cx="5315100" cy="20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ru" sz="1800">
                <a:solidFill>
                  <a:srgbClr val="595959"/>
                </a:solidFill>
              </a:rPr>
              <a:t>🛡️ Обнаружение ошибок на этапе компиляции</a:t>
            </a:r>
            <a:endParaRPr sz="1800">
              <a:solidFill>
                <a:srgbClr val="595959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ru" sz="1800">
                <a:solidFill>
                  <a:srgbClr val="595959"/>
                </a:solidFill>
              </a:rPr>
              <a:t>📝 Лучшая документация кода</a:t>
            </a:r>
            <a:endParaRPr sz="1800">
              <a:solidFill>
                <a:srgbClr val="595959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ru" sz="1800">
                <a:solidFill>
                  <a:srgbClr val="595959"/>
                </a:solidFill>
              </a:rPr>
              <a:t>🔧 Улучшенная поддержка IDE</a:t>
            </a:r>
            <a:endParaRPr sz="1800">
              <a:solidFill>
                <a:srgbClr val="595959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●"/>
            </a:pPr>
            <a:r>
              <a:rPr lang="ru" sz="1800">
                <a:solidFill>
                  <a:srgbClr val="595959"/>
                </a:solidFill>
              </a:rPr>
              <a:t>🏗️ Более надежная архитектура приложений</a:t>
            </a:r>
            <a:endParaRPr sz="1200">
              <a:solidFill>
                <a:srgbClr val="0F111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Установка и настройка TypeScript</a:t>
            </a:r>
            <a:endParaRPr/>
          </a:p>
        </p:txBody>
      </p:sp>
      <p:sp>
        <p:nvSpPr>
          <p:cNvPr id="70" name="Google Shape;70;p15"/>
          <p:cNvSpPr txBox="1"/>
          <p:nvPr/>
        </p:nvSpPr>
        <p:spPr>
          <a:xfrm>
            <a:off x="327925" y="739050"/>
            <a:ext cx="6173700" cy="2962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Глобальная установка компилятора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-g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typescript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Локальная установка в проекте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npm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install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--save-dev typescript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Проверка установки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tsc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--version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Компиляция TypeScript файла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tsc app.ts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72" name="Google Shape;72;p15"/>
          <p:cNvSpPr txBox="1"/>
          <p:nvPr/>
        </p:nvSpPr>
        <p:spPr>
          <a:xfrm>
            <a:off x="437650" y="3803675"/>
            <a:ext cx="3965400" cy="9342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8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# </a:t>
            </a:r>
            <a:r>
              <a:rPr i="1" lang="ru" sz="18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Создание tsconfig.json:</a:t>
            </a:r>
            <a:endParaRPr i="1" sz="18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1200"/>
              </a:spcBef>
              <a:spcAft>
                <a:spcPts val="9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rgbClr val="0F1115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tsc </a:t>
            </a:r>
            <a:r>
              <a:rPr lang="ru" sz="1800">
                <a:solidFill>
                  <a:srgbClr val="4078F2"/>
                </a:solidFill>
                <a:highlight>
                  <a:srgbClr val="F9FAFB"/>
                </a:highlight>
                <a:latin typeface="Consolas"/>
                <a:ea typeface="Consolas"/>
                <a:cs typeface="Consolas"/>
                <a:sym typeface="Consolas"/>
              </a:rPr>
              <a:t>--init</a:t>
            </a:r>
            <a:endParaRPr sz="17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Базовые типы TypeScript</a:t>
            </a:r>
            <a:endParaRPr/>
          </a:p>
        </p:txBody>
      </p:sp>
      <p:sp>
        <p:nvSpPr>
          <p:cNvPr id="78" name="Google Shape;78;p16"/>
          <p:cNvSpPr txBox="1"/>
          <p:nvPr/>
        </p:nvSpPr>
        <p:spPr>
          <a:xfrm>
            <a:off x="360950" y="650975"/>
            <a:ext cx="7357200" cy="41481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Базовые типы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25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isStudent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Массивы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numbers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Array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"Bob"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Кортежи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person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Специальные типы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randomValue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"Может быть чем угодно"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uncertain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unknown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"Требует проверки типа"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nothing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undefined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neverEnding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never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Для функций, которые никогда не завершаются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Вывод типов (type inference)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inferredString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TypeScript автоматически определяет тип string</a:t>
            </a:r>
            <a:endParaRPr sz="950">
              <a:solidFill>
                <a:srgbClr val="E3EAF2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Функции в TypeScript</a:t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360950" y="650975"/>
            <a:ext cx="8111400" cy="4311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Базовая функция с типами</a:t>
            </a:r>
            <a:endParaRPr sz="15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greet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`Hello,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name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!`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Функция с необязательными параметрами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createUser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age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isActive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age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isActive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age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isActive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" name="Google Shape;8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Функции в TypeScript</a:t>
            </a:r>
            <a:endParaRPr/>
          </a:p>
        </p:txBody>
      </p:sp>
      <p:sp>
        <p:nvSpPr>
          <p:cNvPr id="92" name="Google Shape;92;p18"/>
          <p:cNvSpPr txBox="1"/>
          <p:nvPr/>
        </p:nvSpPr>
        <p:spPr>
          <a:xfrm>
            <a:off x="360950" y="650975"/>
            <a:ext cx="7357200" cy="4311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i="1" lang="ru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Стрелочные функции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multiply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Перегрузка функций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processInput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processInput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processInput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input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typeof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input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"string"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input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input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*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3" name="Google Shape;9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Интерфейсы (Interfaces)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360950" y="650975"/>
            <a:ext cx="7357200" cy="43467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Базовый интерфейс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3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readonly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id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Нельзя изменить после создания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email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age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?: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Необязательное свойство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3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 интерфейса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 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email</a:t>
            </a:r>
            <a:r>
              <a:rPr lang="ru" sz="13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3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3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"alice@example.com"</a:t>
            </a:r>
            <a:endParaRPr sz="13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i="1" sz="13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Интерфейсы (Interfaces)</a:t>
            </a:r>
            <a:endParaRPr/>
          </a:p>
        </p:txBody>
      </p:sp>
      <p:sp>
        <p:nvSpPr>
          <p:cNvPr id="106" name="Google Shape;106;p20"/>
          <p:cNvSpPr txBox="1"/>
          <p:nvPr/>
        </p:nvSpPr>
        <p:spPr>
          <a:xfrm>
            <a:off x="360950" y="650975"/>
            <a:ext cx="7357200" cy="43314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2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Наследование интерфейсов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position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salary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2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Интерфейс для функций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SearchFunc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source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subString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mySearch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SearchFunc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src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sub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2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src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2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includes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2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sub</a:t>
            </a: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2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i="1" sz="12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 в TypeScript</a:t>
            </a:r>
            <a:endParaRPr/>
          </a:p>
        </p:txBody>
      </p:sp>
      <p:sp>
        <p:nvSpPr>
          <p:cNvPr id="113" name="Google Shape;113;p21"/>
          <p:cNvSpPr txBox="1"/>
          <p:nvPr/>
        </p:nvSpPr>
        <p:spPr>
          <a:xfrm>
            <a:off x="360950" y="650975"/>
            <a:ext cx="7357200" cy="13545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Vehicle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Car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Vehicle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Публичные свойства (по умолчанию)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brand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Приватные свойства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mileage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Защищенные свойства (доступны в наследниках)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engineStatus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Readonly свойства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readonly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vin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vin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brand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vin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vin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engineStatus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 started`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engineStatus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 stopped`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Геттеры и сеттеры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getMileage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mileage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drive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mileage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distance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Наследование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ElectricCar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Car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batteryLevel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charge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batteryLevel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"Battery fully charged"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" name="Google Shape;11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/>
        </p:nvSpPr>
        <p:spPr>
          <a:xfrm>
            <a:off x="179400" y="319500"/>
            <a:ext cx="4753500" cy="48240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Vehicle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Car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implements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Vehicle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1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Публичные свойства (по умолчанию)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brand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1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Приватные свойства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mileage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1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Защищенные свойства (доступны в наследниках)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protected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engineStatus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boolean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1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Readonly свойства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readonly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vin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constructor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vin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brand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vin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vin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</a:t>
            </a:r>
            <a:endParaRPr i="1" sz="11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1" name="Google Shape;121;p22"/>
          <p:cNvSpPr txBox="1"/>
          <p:nvPr/>
        </p:nvSpPr>
        <p:spPr>
          <a:xfrm>
            <a:off x="4932900" y="48850"/>
            <a:ext cx="4211100" cy="45447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engineStatus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 started`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stop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engineStatus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`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${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brand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 stopped`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i="1" lang="ru" sz="11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Геттеры и сеттеры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getMileage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mileage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drive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distance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1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mileage 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+=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distance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2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" name="Google Shape;122;p22"/>
          <p:cNvSpPr txBox="1"/>
          <p:nvPr>
            <p:ph type="title"/>
          </p:nvPr>
        </p:nvSpPr>
        <p:spPr>
          <a:xfrm>
            <a:off x="1983425" y="48850"/>
            <a:ext cx="3429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 в TypeScript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Классы в TypeScript</a:t>
            </a:r>
            <a:endParaRPr/>
          </a:p>
        </p:txBody>
      </p:sp>
      <p:sp>
        <p:nvSpPr>
          <p:cNvPr id="128" name="Google Shape;1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29" name="Google Shape;129;p23"/>
          <p:cNvSpPr txBox="1"/>
          <p:nvPr/>
        </p:nvSpPr>
        <p:spPr>
          <a:xfrm>
            <a:off x="416850" y="735050"/>
            <a:ext cx="5499900" cy="3600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Наследование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ElectricCar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Car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batteryLevel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charge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batteryLevel 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console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log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"Battery fully charged"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/>
        </p:nvSpPr>
        <p:spPr>
          <a:xfrm>
            <a:off x="708325" y="146725"/>
            <a:ext cx="7357200" cy="49101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Дженерик функция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identity&lt;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arg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arg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output1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identity&lt;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"hello"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let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output2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identity&lt;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42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TypeScript может вывести тип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Дженерик интерфейс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ApiResponse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status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message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userResponse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ApiResponse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email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"john@example.com"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status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message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"Success"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" name="Google Shape;13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36" name="Google Shape;136;p24"/>
          <p:cNvSpPr txBox="1"/>
          <p:nvPr>
            <p:ph type="title"/>
          </p:nvPr>
        </p:nvSpPr>
        <p:spPr>
          <a:xfrm>
            <a:off x="5281150" y="824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Дженерики (Generics)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/>
        </p:nvSpPr>
        <p:spPr>
          <a:xfrm>
            <a:off x="272100" y="194525"/>
            <a:ext cx="73572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productResponse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ApiResponse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Product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data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"Laptop"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price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999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status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200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message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"Success"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Дженерик класс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class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Repository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private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items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[];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item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getById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undefined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this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items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find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item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=&gt;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item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any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id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Использование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userRepo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Repository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User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&gt;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userRepo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add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"Alice"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});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2" name="Google Shape;142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43" name="Google Shape;143;p25"/>
          <p:cNvSpPr txBox="1"/>
          <p:nvPr>
            <p:ph type="title"/>
          </p:nvPr>
        </p:nvSpPr>
        <p:spPr>
          <a:xfrm>
            <a:off x="5001000" y="60050"/>
            <a:ext cx="429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Дженерики (Generics)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Union и Intersection типы</a:t>
            </a:r>
            <a:endParaRPr/>
          </a:p>
        </p:txBody>
      </p:sp>
      <p:sp>
        <p:nvSpPr>
          <p:cNvPr id="149" name="Google Shape;149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50" name="Google Shape;150;p26"/>
          <p:cNvSpPr txBox="1"/>
          <p:nvPr/>
        </p:nvSpPr>
        <p:spPr>
          <a:xfrm>
            <a:off x="180200" y="544275"/>
            <a:ext cx="5358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Union types (|) — значение может быть одного из нескольких типов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Intersection types (&amp;) — комбинирует несколько типов в один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Type guards — сужение типов в runtime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Union и Intersection типы</a:t>
            </a:r>
            <a:endParaRPr/>
          </a:p>
        </p:txBody>
      </p:sp>
      <p:sp>
        <p:nvSpPr>
          <p:cNvPr id="156" name="Google Shape;156;p27"/>
          <p:cNvSpPr txBox="1"/>
          <p:nvPr/>
        </p:nvSpPr>
        <p:spPr>
          <a:xfrm>
            <a:off x="399500" y="554300"/>
            <a:ext cx="73572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Union types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StringOrNumber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processValue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value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StringOrNumber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typeof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===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"string"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toUpperCase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TypeScript знает, что это string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value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toFixed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TypeScript знает, что это number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Intersection types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BusinessPartner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credit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Identity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" name="Google Shape;15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Union и Intersection типы</a:t>
            </a:r>
            <a:endParaRPr/>
          </a:p>
        </p:txBody>
      </p:sp>
      <p:sp>
        <p:nvSpPr>
          <p:cNvPr id="163" name="Google Shape;163;p28"/>
          <p:cNvSpPr txBox="1"/>
          <p:nvPr/>
        </p:nvSpPr>
        <p:spPr>
          <a:xfrm>
            <a:off x="399500" y="554300"/>
            <a:ext cx="7357200" cy="21165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Employee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Identity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BusinessPartner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const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employee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Employee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id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"John"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credit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1000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4" name="Google Shape;164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Union и Intersection типы</a:t>
            </a:r>
            <a:endParaRPr/>
          </a:p>
        </p:txBody>
      </p:sp>
      <p:sp>
        <p:nvSpPr>
          <p:cNvPr id="170" name="Google Shape;170;p29"/>
          <p:cNvSpPr txBox="1"/>
          <p:nvPr/>
        </p:nvSpPr>
        <p:spPr>
          <a:xfrm>
            <a:off x="399500" y="554300"/>
            <a:ext cx="73572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Bird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fly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layEggs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Fish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swim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layEggs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isFish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pet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Fish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Bird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pet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Fish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pet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as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Fish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).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swim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!==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undefined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function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move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pet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Fish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Bird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isFish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pet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))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pet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swim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TypeScript знает, что это Fish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else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    pet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fly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TypeScript знает, что это Bird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1" name="Google Shape;17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Type Aliases vs Interfaces</a:t>
            </a:r>
            <a:endParaRPr/>
          </a:p>
        </p:txBody>
      </p:sp>
      <p:sp>
        <p:nvSpPr>
          <p:cNvPr id="177" name="Google Shape;177;p30"/>
          <p:cNvSpPr txBox="1"/>
          <p:nvPr/>
        </p:nvSpPr>
        <p:spPr>
          <a:xfrm>
            <a:off x="332250" y="1966325"/>
            <a:ext cx="7357200" cy="3132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 Alias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Point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x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ID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Interface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PointInterface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x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y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79" name="Google Shape;179;p30"/>
          <p:cNvSpPr txBox="1"/>
          <p:nvPr/>
        </p:nvSpPr>
        <p:spPr>
          <a:xfrm>
            <a:off x="180200" y="544275"/>
            <a:ext cx="53580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Type Aliases — создают псевдонимы для типов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Interfaces — описывают форму объектов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Различия в расширении и реализации</a:t>
            </a:r>
            <a:endParaRPr sz="18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1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Type Aliases vs Interfaces</a:t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272100" y="487200"/>
            <a:ext cx="7357200" cy="46563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Расширение Type Alias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Point3D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Point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&amp;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z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Расширение Interface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Point3DInterface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extends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PointInterface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z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Различия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Animal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interface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Animal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age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number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Animal теперь имеет оба свойства: name и age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A626A4"/>
                </a:solidFill>
                <a:latin typeface="Consolas"/>
                <a:ea typeface="Consolas"/>
                <a:cs typeface="Consolas"/>
                <a:sym typeface="Consolas"/>
              </a:rPr>
              <a:t>type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Person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name</a:t>
            </a:r>
            <a:r>
              <a:rPr lang="ru" sz="10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0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0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string</a:t>
            </a: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0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};</a:t>
            </a:r>
            <a:endParaRPr sz="10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ru" sz="1000">
                <a:solidFill>
                  <a:srgbClr val="A0A1A7"/>
                </a:solidFill>
                <a:latin typeface="Consolas"/>
                <a:ea typeface="Consolas"/>
                <a:cs typeface="Consolas"/>
                <a:sym typeface="Consolas"/>
              </a:rPr>
              <a:t>// type Person = { age: number }; // Ошибка! Type aliases нельзя расширять</a:t>
            </a:r>
            <a:endParaRPr i="1" sz="10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86" name="Google Shape;18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272100" y="48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Миграция с JavaScript на TypeScript</a:t>
            </a:r>
            <a:endParaRPr/>
          </a:p>
        </p:txBody>
      </p:sp>
      <p:sp>
        <p:nvSpPr>
          <p:cNvPr id="192" name="Google Shape;192;p32"/>
          <p:cNvSpPr txBox="1"/>
          <p:nvPr/>
        </p:nvSpPr>
        <p:spPr>
          <a:xfrm>
            <a:off x="3989300" y="687300"/>
            <a:ext cx="3765000" cy="4265100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"compilerOptions"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{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"target"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"ES2020"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"module"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"ESNext"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"allowJs"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"checkJs"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"outDir"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"./dist"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"strict"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false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"esModuleInterop"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"skipLibCheck"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B76B01"/>
                </a:solidFill>
                <a:latin typeface="Consolas"/>
                <a:ea typeface="Consolas"/>
                <a:cs typeface="Consolas"/>
                <a:sym typeface="Consolas"/>
              </a:rPr>
              <a:t>true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"include"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"src/**/*"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lang="ru" sz="1100">
                <a:solidFill>
                  <a:srgbClr val="E45649"/>
                </a:solidFill>
                <a:latin typeface="Consolas"/>
                <a:ea typeface="Consolas"/>
                <a:cs typeface="Consolas"/>
                <a:sym typeface="Consolas"/>
              </a:rPr>
              <a:t>"exclude"</a:t>
            </a:r>
            <a:r>
              <a:rPr lang="ru" sz="1100">
                <a:solidFill>
                  <a:srgbClr val="4078F2"/>
                </a:solidFill>
                <a:latin typeface="Consolas"/>
                <a:ea typeface="Consolas"/>
                <a:cs typeface="Consolas"/>
                <a:sym typeface="Consolas"/>
              </a:rPr>
              <a:t>: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"node_modules"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ru" sz="1100">
                <a:solidFill>
                  <a:srgbClr val="0F1115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ru" sz="1100">
                <a:solidFill>
                  <a:srgbClr val="50A14F"/>
                </a:solidFill>
                <a:latin typeface="Consolas"/>
                <a:ea typeface="Consolas"/>
                <a:cs typeface="Consolas"/>
                <a:sym typeface="Consolas"/>
              </a:rPr>
              <a:t>"dist"</a:t>
            </a: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1100">
              <a:solidFill>
                <a:srgbClr val="0F111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100">
                <a:solidFill>
                  <a:srgbClr val="383A4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100">
              <a:solidFill>
                <a:srgbClr val="383A4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152400" marR="15240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1100">
              <a:solidFill>
                <a:srgbClr val="A0A1A7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93" name="Google Shape;193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194" name="Google Shape;194;p32"/>
          <p:cNvSpPr txBox="1"/>
          <p:nvPr/>
        </p:nvSpPr>
        <p:spPr>
          <a:xfrm>
            <a:off x="272100" y="621550"/>
            <a:ext cx="35715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ru" sz="1900">
                <a:solidFill>
                  <a:srgbClr val="595959"/>
                </a:solidFill>
              </a:rPr>
              <a:t>Постепенная миграция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ru" sz="1900">
                <a:solidFill>
                  <a:srgbClr val="595959"/>
                </a:solidFill>
              </a:rPr>
              <a:t>Файлы .js -&gt; .ts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ru" sz="1900">
                <a:solidFill>
                  <a:srgbClr val="595959"/>
                </a:solidFill>
              </a:rPr>
              <a:t>Использование any для постепенного перехода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ru" sz="1900">
                <a:solidFill>
                  <a:srgbClr val="595959"/>
                </a:solidFill>
              </a:rPr>
              <a:t>Настройка TypeScript компилятора</a:t>
            </a:r>
            <a:endParaRPr sz="1900">
              <a:solidFill>
                <a:srgbClr val="595959"/>
              </a:solidFill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900"/>
              <a:buChar char="●"/>
            </a:pPr>
            <a:r>
              <a:rPr lang="ru" sz="1900">
                <a:solidFill>
                  <a:srgbClr val="595959"/>
                </a:solidFill>
              </a:rPr>
              <a:t>tsconfig.json для миграции:</a:t>
            </a:r>
            <a:endParaRPr sz="19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272100" y="141325"/>
            <a:ext cx="85641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Итоги лекции</a:t>
            </a:r>
            <a:endParaRPr/>
          </a:p>
        </p:txBody>
      </p:sp>
      <p:sp>
        <p:nvSpPr>
          <p:cNvPr id="200" name="Google Shape;200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01" name="Google Shape;201;p33"/>
          <p:cNvSpPr txBox="1"/>
          <p:nvPr/>
        </p:nvSpPr>
        <p:spPr>
          <a:xfrm>
            <a:off x="216600" y="864900"/>
            <a:ext cx="4493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TypeScript добавляет статическую типизацию к JavaScript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Основные типы: примитивы, массивы, объекты, функции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Интерфейсы и Type Aliases для описания структур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Классы с модификаторами доступа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Дженерики для создания reusable компонентов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Утилиты типов для трансформации существующих типов</a:t>
            </a:r>
            <a:endParaRPr sz="1800">
              <a:solidFill>
                <a:srgbClr val="595959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800"/>
              <a:buChar char="●"/>
            </a:pPr>
            <a:r>
              <a:rPr lang="ru" sz="1800">
                <a:solidFill>
                  <a:srgbClr val="595959"/>
                </a:solidFill>
              </a:rPr>
              <a:t>Строгие настройки для максимальной надежности</a:t>
            </a:r>
            <a:endParaRPr sz="1800">
              <a:solidFill>
                <a:srgbClr val="595959"/>
              </a:solidFill>
            </a:endParaRPr>
          </a:p>
        </p:txBody>
      </p:sp>
      <p:sp>
        <p:nvSpPr>
          <p:cNvPr id="202" name="Google Shape;202;p33"/>
          <p:cNvSpPr txBox="1"/>
          <p:nvPr/>
        </p:nvSpPr>
        <p:spPr>
          <a:xfrm>
            <a:off x="5240900" y="3533750"/>
            <a:ext cx="2687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solidFill>
                  <a:srgbClr val="000000"/>
                </a:solidFill>
              </a:rPr>
              <a:t>Вопросы?</a:t>
            </a:r>
            <a:endParaRPr sz="2800">
              <a:solidFill>
                <a:srgbClr val="000000"/>
              </a:solidFill>
            </a:endParaRPr>
          </a:p>
        </p:txBody>
      </p:sp>
      <p:pic>
        <p:nvPicPr>
          <p:cNvPr id="203" name="Google Shape;20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9700" y="697650"/>
            <a:ext cx="4208075" cy="25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
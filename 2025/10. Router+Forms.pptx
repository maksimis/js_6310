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c93ef6f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c93ef6f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ee2fe7d3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ee2fe7d3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6c93ef6f6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6c93ef6f6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ca0379690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6ca0379690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2b5d7b08d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2b5d7b08d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2b5d7b08d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2b5d7b08d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2b5d7b08d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2b5d7b08d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2b5d7b08d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2b5d7b08d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2b5d7b08d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2b5d7b08d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2b5d7b08d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2b5d7b08d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reactrouter.com/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reactrouter.com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42125" y="352350"/>
            <a:ext cx="8520600" cy="105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React Router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422325" y="2877900"/>
            <a:ext cx="44508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4291"/>
              <a:t>Программирование на JavaScript</a:t>
            </a:r>
            <a:br>
              <a:rPr lang="ru" sz="4291"/>
            </a:br>
            <a:r>
              <a:rPr lang="ru" sz="4291"/>
              <a:t>Преподаватель: Исанькин М.А.</a:t>
            </a:r>
            <a:br>
              <a:rPr lang="ru" sz="4291"/>
            </a:br>
            <a:br>
              <a:rPr lang="ru" sz="4291"/>
            </a:br>
            <a:r>
              <a:rPr lang="ru" sz="4291"/>
              <a:t>09.03.01 ИВТ ПИТТП</a:t>
            </a:r>
            <a:endParaRPr sz="4291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4291"/>
              <a:t>Группа 6310</a:t>
            </a:r>
            <a:br>
              <a:rPr lang="ru"/>
            </a:br>
            <a:br>
              <a:rPr lang="ru"/>
            </a:br>
            <a:r>
              <a:rPr lang="ru" sz="4291"/>
              <a:t>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272100" y="141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React-router</a:t>
            </a:r>
            <a:endParaRPr/>
          </a:p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272100" y="609375"/>
            <a:ext cx="46161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 u="sng">
                <a:solidFill>
                  <a:schemeClr val="hlink"/>
                </a:solidFill>
                <a:hlinkClick r:id="rId3"/>
              </a:rPr>
              <a:t>https://reactrouter.com/</a:t>
            </a:r>
            <a:endParaRPr sz="17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rgbClr val="595959"/>
              </a:solidFill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6875" y="175850"/>
            <a:ext cx="5141575" cy="16682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>
            <p:ph type="title"/>
          </p:nvPr>
        </p:nvSpPr>
        <p:spPr>
          <a:xfrm>
            <a:off x="301925" y="1540800"/>
            <a:ext cx="261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Data mode</a:t>
            </a:r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92125" y="1922925"/>
            <a:ext cx="3068461" cy="299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такое React router?</a:t>
            </a:r>
            <a:endParaRPr/>
          </a:p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232525" y="590300"/>
            <a:ext cx="69066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React Router — стандартная библиотека для маршрутизации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SPA (Single Page Application) — одно HTML, много "страниц"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Client-side routing — навигация без перезагрузки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Динамические маршруты — параметры в URL</a:t>
            </a:r>
            <a:endParaRPr sz="1750">
              <a:solidFill>
                <a:srgbClr val="595959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482275" y="4179400"/>
            <a:ext cx="5085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 u="sng">
                <a:solidFill>
                  <a:schemeClr val="hlink"/>
                </a:solidFill>
                <a:hlinkClick r:id="rId3"/>
              </a:rPr>
              <a:t>https://reactrouter.com/</a:t>
            </a:r>
            <a:endParaRPr sz="2600">
              <a:solidFill>
                <a:schemeClr val="accent1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270600" y="2467150"/>
            <a:ext cx="25572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npm i react-router</a:t>
            </a:r>
            <a:endParaRPr sz="1750">
              <a:solidFill>
                <a:srgbClr val="595959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5089400" y="2624775"/>
            <a:ext cx="3184800" cy="20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50">
                <a:solidFill>
                  <a:srgbClr val="595959"/>
                </a:solidFill>
              </a:rPr>
              <a:t>src/</a:t>
            </a:r>
            <a:endParaRPr sz="1750">
              <a:solidFill>
                <a:srgbClr val="595959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50">
                <a:solidFill>
                  <a:srgbClr val="595959"/>
                </a:solidFill>
              </a:rPr>
              <a:t>├── pages/</a:t>
            </a:r>
            <a:endParaRPr sz="1750">
              <a:solidFill>
                <a:srgbClr val="595959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50">
                <a:solidFill>
                  <a:srgbClr val="595959"/>
                </a:solidFill>
              </a:rPr>
              <a:t>│   ├── Home.tsx</a:t>
            </a:r>
            <a:endParaRPr sz="1750">
              <a:solidFill>
                <a:srgbClr val="595959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50">
                <a:solidFill>
                  <a:srgbClr val="595959"/>
                </a:solidFill>
              </a:rPr>
              <a:t>│   ├── About.tsx</a:t>
            </a:r>
            <a:endParaRPr sz="1750">
              <a:solidFill>
                <a:srgbClr val="595959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50">
                <a:solidFill>
                  <a:srgbClr val="595959"/>
                </a:solidFill>
              </a:rPr>
              <a:t>│   └── </a:t>
            </a:r>
            <a:r>
              <a:rPr lang="ru" sz="1750">
                <a:solidFill>
                  <a:srgbClr val="595959"/>
                </a:solidFill>
              </a:rPr>
              <a:t>UserProfile.tsx</a:t>
            </a:r>
            <a:endParaRPr sz="1750">
              <a:solidFill>
                <a:srgbClr val="595959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50">
                <a:solidFill>
                  <a:srgbClr val="595959"/>
                </a:solidFill>
              </a:rPr>
              <a:t>├── components/</a:t>
            </a:r>
            <a:endParaRPr sz="1750">
              <a:solidFill>
                <a:srgbClr val="595959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50">
                <a:solidFill>
                  <a:srgbClr val="595959"/>
                </a:solidFill>
              </a:rPr>
              <a:t>└── App.tsx</a:t>
            </a:r>
            <a:endParaRPr sz="175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272100" y="141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Первый роутинг (data mode)</a:t>
            </a:r>
            <a:endParaRPr/>
          </a:p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675" y="1460625"/>
            <a:ext cx="3859801" cy="3311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675" y="714033"/>
            <a:ext cx="4222219" cy="435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272100" y="141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Расширяем роутинг</a:t>
            </a:r>
            <a:endParaRPr/>
          </a:p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0425" y="424376"/>
            <a:ext cx="3510975" cy="40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250" y="616100"/>
            <a:ext cx="4745576" cy="27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0575" y="1005725"/>
            <a:ext cx="3139047" cy="394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272100" y="141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useParams, useNavigate, useLocation</a:t>
            </a:r>
            <a:endParaRPr/>
          </a:p>
        </p:txBody>
      </p:sp>
      <p:sp>
        <p:nvSpPr>
          <p:cNvPr id="98" name="Google Shape;9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1125" y="714025"/>
            <a:ext cx="3449601" cy="4205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700" y="939050"/>
            <a:ext cx="3695700" cy="113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272100" y="141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Context API - управление глобальным состоянием</a:t>
            </a:r>
            <a:endParaRPr/>
          </a:p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202575" y="714025"/>
            <a:ext cx="6906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Context API — встроенная система управления состоянием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Провайдеры — предоставляют данные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Потребители — используют данные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useContext — хук для доступа к контексту</a:t>
            </a:r>
            <a:endParaRPr sz="1750">
              <a:solidFill>
                <a:srgbClr val="595959"/>
              </a:solidFill>
            </a:endParaRPr>
          </a:p>
        </p:txBody>
      </p:sp>
      <p:sp>
        <p:nvSpPr>
          <p:cNvPr id="108" name="Google Shape;108;p19"/>
          <p:cNvSpPr txBox="1"/>
          <p:nvPr/>
        </p:nvSpPr>
        <p:spPr>
          <a:xfrm>
            <a:off x="272100" y="2383775"/>
            <a:ext cx="6906600" cy="16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700"/>
              <a:buFont typeface="Roboto"/>
              <a:buChar char="●"/>
            </a:pPr>
            <a:r>
              <a:rPr lang="ru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✅ Тема приложения</a:t>
            </a:r>
            <a:endParaRPr sz="17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700"/>
              <a:buFont typeface="Roboto"/>
              <a:buChar char="●"/>
            </a:pPr>
            <a:r>
              <a:rPr lang="ru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✅ Аутентификация пользователя</a:t>
            </a:r>
            <a:endParaRPr sz="17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700"/>
              <a:buFont typeface="Roboto"/>
              <a:buChar char="●"/>
            </a:pPr>
            <a:r>
              <a:rPr lang="ru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✅ Язык/локализация</a:t>
            </a:r>
            <a:endParaRPr sz="17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700"/>
              <a:buFont typeface="Roboto"/>
              <a:buChar char="●"/>
            </a:pPr>
            <a:r>
              <a:rPr lang="ru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✅ Глобальные настройки</a:t>
            </a:r>
            <a:endParaRPr sz="17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700"/>
              <a:buFont typeface="Roboto"/>
              <a:buChar char="●"/>
            </a:pPr>
            <a:r>
              <a:rPr lang="ru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❌ Часто изменяющиеся данные</a:t>
            </a:r>
            <a:endParaRPr sz="2250">
              <a:solidFill>
                <a:srgbClr val="595959"/>
              </a:solidFill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272100" y="1976125"/>
            <a:ext cx="538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0F1115"/>
                </a:solidFill>
                <a:highlight>
                  <a:srgbClr val="FFFFFF"/>
                </a:highlight>
              </a:rPr>
              <a:t>Когда использовать Context API: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30351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375" y="152400"/>
            <a:ext cx="4947325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27" name="Google Shape;127;p22"/>
          <p:cNvSpPr txBox="1"/>
          <p:nvPr>
            <p:ph type="title"/>
          </p:nvPr>
        </p:nvSpPr>
        <p:spPr>
          <a:xfrm>
            <a:off x="272100" y="141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Работа с формами</a:t>
            </a:r>
            <a:endParaRPr/>
          </a:p>
        </p:txBody>
      </p:sp>
      <p:sp>
        <p:nvSpPr>
          <p:cNvPr id="128" name="Google Shape;128;p22"/>
          <p:cNvSpPr txBox="1"/>
          <p:nvPr/>
        </p:nvSpPr>
        <p:spPr>
          <a:xfrm>
            <a:off x="202575" y="714025"/>
            <a:ext cx="6906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Управляемые компоненты — React контролирует значения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Обработчики изменений — onChange для полей ввода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Валидация — проверка данных перед отправкой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Состояние формы — управление всеми полями</a:t>
            </a:r>
            <a:endParaRPr sz="1750">
              <a:solidFill>
                <a:srgbClr val="595959"/>
              </a:solidFill>
            </a:endParaRP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100" y="2088600"/>
            <a:ext cx="6555515" cy="286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
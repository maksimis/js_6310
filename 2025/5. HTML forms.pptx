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a1b5555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a1b5555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c667d130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c667d130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c686781f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c686781f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c686781f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c686781f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686781f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c686781f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686781f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c686781f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c686781f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c686781f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c686781f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c686781f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c686781f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c686781f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c686781f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c686781f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c686781f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c686781f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aab91295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7aab91295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aab91295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aab91295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35300" y="238125"/>
            <a:ext cx="8520600" cy="169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HTML Forms - Работа с формами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6065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HTML формы?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60650" y="2378425"/>
            <a:ext cx="7708500" cy="238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&lt;!</a:t>
            </a:r>
            <a:r>
              <a:rPr lang="ru" sz="950">
                <a:solidFill>
                  <a:srgbClr val="8DA1B9"/>
                </a:solidFill>
                <a:latin typeface="Roboto Mono"/>
                <a:ea typeface="Roboto Mono"/>
                <a:cs typeface="Roboto Mono"/>
                <a:sym typeface="Roboto Mono"/>
              </a:rPr>
              <a:t>DOCTYPE html</a:t>
            </a:r>
            <a:r>
              <a:rPr lang="ru" sz="950">
                <a:solidFill>
                  <a:srgbClr val="E3EAF2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&lt;html&gt;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&lt;title&gt;</a:t>
            </a: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Заголовок страницы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&lt;/title&gt;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&lt;meta </a:t>
            </a:r>
            <a:r>
              <a:rPr lang="ru" sz="950">
                <a:solidFill>
                  <a:srgbClr val="E6D37A"/>
                </a:solidFill>
                <a:latin typeface="Roboto Mono"/>
                <a:ea typeface="Roboto Mono"/>
                <a:cs typeface="Roboto Mono"/>
                <a:sym typeface="Roboto Mono"/>
              </a:rPr>
              <a:t>charset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="</a:t>
            </a:r>
            <a:r>
              <a:rPr lang="ru" sz="950">
                <a:solidFill>
                  <a:srgbClr val="91D076"/>
                </a:solidFill>
                <a:latin typeface="Roboto Mono"/>
                <a:ea typeface="Roboto Mono"/>
                <a:cs typeface="Roboto Mono"/>
                <a:sym typeface="Roboto Mono"/>
              </a:rPr>
              <a:t>UTF-8</a:t>
            </a: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"&gt;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&lt;/head&gt;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&lt;body&gt;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33020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/submit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		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Поля формы здесь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		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Отправить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33020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950">
              <a:solidFill>
                <a:srgbClr val="8DA1B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&lt;/body&gt;</a:t>
            </a:r>
            <a:endParaRPr sz="95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50">
                <a:solidFill>
                  <a:srgbClr val="66CCCC"/>
                </a:solidFill>
                <a:latin typeface="Roboto Mono"/>
                <a:ea typeface="Roboto Mono"/>
                <a:cs typeface="Roboto Mono"/>
                <a:sym typeface="Roboto Mono"/>
              </a:rPr>
              <a:t>&lt;/html&gt;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60650" y="8544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Форма — это контейнер для группировки input-элементов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Позволяют пользователям вводить и отправлять данные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Основной способ взаимодействия пользователя с веб-приложением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Используются для: логина, регистрации, поиска, заказов, обратной связи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6065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Базовые input-элементы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60650" y="1954225"/>
            <a:ext cx="7708500" cy="270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Текстовое поле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username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Имя пользователя: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username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username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Поле пароля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Пароль: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Email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Email: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60650" y="8544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&lt;input&gt; — универсальный элемент для ввода данных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type attribute определяет тип input'а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name attribute используется для идентификации данных на сервере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6065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Разнообразие input-типов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360650" y="2073075"/>
            <a:ext cx="7708500" cy="262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Числовое поле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Ползунок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volume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Дата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birthday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Файл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accept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.pdf,.doc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311700" y="742225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Текстовые поля: text, password, email, tel, url, search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Числовые поля: number, range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Выбор даты/времени: date, time, datetime-local, month, week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Выбор из вариантов: radio, checkbox, select, file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6065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Radio buttons и Checkboxes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60650" y="1758025"/>
            <a:ext cx="7708500" cy="313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Radio buttons (один выбор) --&gt;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Выберите пол: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radio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male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gender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male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male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Мужской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radio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female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gender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female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female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Женский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Checkboxes (множественный выбор)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 --&gt;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&lt;p&gt;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Выберите интересы: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sports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interests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sports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sports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Спорт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music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interests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music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music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Музыка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11700" y="74222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Radio buttons — выбор одного варианта из нескольких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Checkboxes — выбор нескольких вариантов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Обязательно должны иметь атрибут name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1598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Выпадающие списки (Select)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3215250" y="431950"/>
            <a:ext cx="5679000" cy="465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Одиночный выбор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Страна: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&lt;select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country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-- Выберите страну --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ru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Россия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США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de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Германия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&lt;/select&gt;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Множественный выбор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languages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Языки программирования: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&lt;select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languages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languages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multiple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size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js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JavaScript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py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java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Java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&lt;option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cpp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C++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&lt;/option&gt;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&lt;/select&gt;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132025" y="742225"/>
            <a:ext cx="3149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&lt;select&gt; — выпадающий список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&lt;option&gt; — элементы списка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multiple — позволяет выбирать несколько вариантов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size — количество visible options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1598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Textarea и другие элементы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3228450" y="670813"/>
            <a:ext cx="5679000" cy="389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&lt;fieldset&gt;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&lt;legend&gt;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Контактная информация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&lt;/legend&gt;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Многострочный текст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&lt;label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Сообщение: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&lt;/label&gt;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&lt;textarea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message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rows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cols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50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placeholder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Введите ваше сообщение...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"&gt;&lt;/textarea&gt;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Кнопки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Отправить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reset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Очистить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Простая кнопка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&lt;/fieldset&gt;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0" y="676225"/>
            <a:ext cx="3149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&lt;textarea&gt; — многострочное текстовое поле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&lt;button&gt; — кнопка для отправки формы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&lt;fieldset&gt; и &lt;legend&gt; — группировка элементов формы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1598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Атрибуты валидации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3228450" y="670813"/>
            <a:ext cx="5679000" cy="389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Валидация длины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username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minlength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maxlength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Валидация числа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age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min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99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Валидация по pattern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zipcode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[0-9]{5}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        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Почтовый индекс (5 цифр)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Валидация email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0" y="676225"/>
            <a:ext cx="31494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required — обязательное поле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minlength/maxlength — минимальная/максимальная длина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min/max — минимальное/максимальное значение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pattern — регулярное выражение для validation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1598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Отправка формы (Submit)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3228450" y="670813"/>
            <a:ext cx="5679000" cy="440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GET запрос (для поиска, фильтров)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/search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query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placeholder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Поиск...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Найти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POST запрос (для регистрации, логина)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/register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username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password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required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Зарегистрироваться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&lt;!-- Загрузка файлов --&gt;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action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/upload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method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enctype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multipart/form-data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Загрузить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0" y="676225"/>
            <a:ext cx="3149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GET — данные отправляются в URL (видимы пользователю)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POST — данные отправляются в теле запроса (невидимы)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Данные кодируются как application/x-www-form-urlencoded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Для файлов используется multipart/form-data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159850" y="12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Обработка формы с JavaScript</a:t>
            </a:r>
            <a:endParaRPr/>
          </a:p>
        </p:txBody>
      </p:sp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159850" y="755450"/>
            <a:ext cx="757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Событие submit формы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event.preventDefault() — отмена стандартного поведения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Доступ к данным через FormData API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Валидация перед отправкой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/>
        </p:nvSpPr>
        <p:spPr>
          <a:xfrm>
            <a:off x="210725" y="-10350"/>
            <a:ext cx="8564100" cy="5164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&lt;form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registrationForm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username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&lt;input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&lt;button </a:t>
            </a:r>
            <a:r>
              <a:rPr lang="ru" sz="1000">
                <a:solidFill>
                  <a:srgbClr val="E6D37A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="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Зарегистрироваться</a:t>
            </a: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&lt;/button&gt;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&lt;/form&gt;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document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getElementById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'registrationForm'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addEventListener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'submit'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event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event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preventDefault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Отменяем стандартную отправку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formData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FormData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Собираем данные формы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data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Object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fromEntries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formData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entries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validateForm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Валидация</a:t>
            </a:r>
            <a:endParaRPr sz="1000">
              <a:solidFill>
                <a:srgbClr val="8DA1B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alert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'Пожалуйста, заполните все поля корректно'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console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'Данные для отправки:'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Отправка данных (например, fetch API)</a:t>
            </a:r>
            <a:endParaRPr sz="1000">
              <a:solidFill>
                <a:srgbClr val="8DA1B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8DA1B9"/>
                </a:solidFill>
                <a:latin typeface="Consolas"/>
                <a:ea typeface="Consolas"/>
                <a:cs typeface="Consolas"/>
                <a:sym typeface="Consolas"/>
              </a:rPr>
              <a:t>// fetch('/api/register', { method: 'POST', body: JSON.stringify(data) })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validateForm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6CB8E6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username </a:t>
            </a:r>
            <a:r>
              <a:rPr lang="ru" sz="1000">
                <a:solidFill>
                  <a:srgbClr val="E9AE7E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data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C699E3"/>
                </a:solidFill>
                <a:latin typeface="Consolas"/>
                <a:ea typeface="Consolas"/>
                <a:cs typeface="Consolas"/>
                <a:sym typeface="Consolas"/>
              </a:rPr>
              <a:t>includes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91D076"/>
                </a:solidFill>
                <a:latin typeface="Consolas"/>
                <a:ea typeface="Consolas"/>
                <a:cs typeface="Consolas"/>
                <a:sym typeface="Consolas"/>
              </a:rPr>
              <a:t>'@'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F9FAF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000">
                <a:solidFill>
                  <a:srgbClr val="E3EA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F9FAF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66CCCC"/>
                </a:solidFill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 sz="1000">
              <a:solidFill>
                <a:srgbClr val="66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281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лекции</a:t>
            </a:r>
            <a:endParaRPr/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338125" y="907250"/>
            <a:ext cx="7586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Формы — основной способ сбора данных от пользователя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HTML предоставляет разнообразные input-типы для разных данных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Встроенная валидация HTML5 упрощает проверку данных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JavaScript необходим для сложной валидации и асинхронной отправки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/>
        </p:nvSpPr>
        <p:spPr>
          <a:xfrm>
            <a:off x="411025" y="352325"/>
            <a:ext cx="268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Вопросы?</a:t>
            </a:r>
            <a:endParaRPr sz="2800">
              <a:solidFill>
                <a:srgbClr val="000000"/>
              </a:solidFill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6137925" y="4595175"/>
            <a:ext cx="397200" cy="20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500" y="476625"/>
            <a:ext cx="5816249" cy="43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
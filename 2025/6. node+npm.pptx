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50568336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50568336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ae0b6494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ae0b649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8a6fe5b8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8a6fe5b8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8a6fe5b8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8a6fe5b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ae0b6494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ae0b6494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ae0b6494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ae0b6494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e0b6494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e0b6494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ae0b6494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ae0b6494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ae0b6494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ae0b6494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899d4232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899d4232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99d4232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899d4232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ae0b6494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ae0b6494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ae0b6494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ae0b6494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ae0b6494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ae0b6494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899d4232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6899d4232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899d4232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6899d4232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899d4232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899d4232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899d4232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899d4232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899d4232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899d4232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899d4232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899d4232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899d4232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899d4232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899d4232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6899d4232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6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Node.js, npm и создание реальных приложений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Node.js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24225" y="1101450"/>
            <a:ext cx="455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Среда выполнения JavaScript вне браузера на движке V8.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Событийно-ориентированная и неблокирующая I/O модель.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Позволяет писать серверные приложения, утилиты, инструменты сборки и многое другое на JavaScript.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NPM (Node Package Manager) — крупнейший реестр пакетов в мире. 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Альтернатива NPM - Yarn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5950" y="472225"/>
            <a:ext cx="4075300" cy="407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85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JS Повторение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83525" y="769950"/>
            <a:ext cx="3498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let age = 20;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let name = "Иван";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let isStudent = true;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undefined: Значение не присвоено.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null: Значение "ничего".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const array1 = [];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const obj = {};</a:t>
            </a:r>
            <a:endParaRPr sz="18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9375" y="85450"/>
            <a:ext cx="51948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// Function Expression</a:t>
            </a:r>
            <a:endParaRPr sz="155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const sayHello = function(name) {</a:t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`Hello, ${name}`;</a:t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// Стрелочная функция (полный вариант)</a:t>
            </a:r>
            <a:endParaRPr sz="155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const sayHelloAgain = (name) =&gt; {</a:t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`Hello again, ${name}`;</a:t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// Стрелочная функция (сокращенный вариант, если тело одно выражение)</a:t>
            </a:r>
            <a:endParaRPr sz="1550">
              <a:solidFill>
                <a:schemeClr val="accent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const double = n =&gt; n * 2; </a:t>
            </a:r>
            <a:r>
              <a:rPr lang="ru" sz="155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// return подразумевается</a:t>
            </a:r>
            <a:endParaRPr sz="2000">
              <a:solidFill>
                <a:schemeClr val="accent3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271000"/>
            <a:ext cx="6591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ru" sz="2100">
                <a:solidFill>
                  <a:schemeClr val="dk2"/>
                </a:solidFill>
              </a:rPr>
              <a:t>Замыкания (Closures)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ru" sz="2100">
                <a:solidFill>
                  <a:schemeClr val="dk2"/>
                </a:solidFill>
              </a:rPr>
              <a:t>Каррирование (Currying)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ru" sz="2100">
                <a:solidFill>
                  <a:schemeClr val="dk2"/>
                </a:solidFill>
              </a:rPr>
              <a:t>class</a:t>
            </a:r>
            <a:endParaRPr sz="2100">
              <a:solidFill>
                <a:schemeClr val="dk2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ru" sz="2100">
                <a:solidFill>
                  <a:schemeClr val="dk2"/>
                </a:solidFill>
              </a:rPr>
              <a:t>Наследование классов (extends, super)</a:t>
            </a:r>
            <a:endParaRPr sz="2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85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Инструменты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183525" y="769950"/>
            <a:ext cx="7386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2000">
                <a:solidFill>
                  <a:schemeClr val="dk2"/>
                </a:solidFill>
              </a:rPr>
              <a:t>git (status, commit, checkout, add, branch, .gitignore)</a:t>
            </a:r>
            <a:endParaRPr sz="20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2000">
                <a:solidFill>
                  <a:schemeClr val="dk2"/>
                </a:solidFill>
              </a:rPr>
              <a:t>VS Code vs Visual Studio - это не одно и тоже</a:t>
            </a:r>
            <a:endParaRPr sz="180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Node.js и npm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57750" y="2203500"/>
            <a:ext cx="7708500" cy="5157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--version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--version</a:t>
            </a:r>
            <a:endParaRPr sz="950">
              <a:solidFill>
                <a:srgbClr val="C699E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57650" y="113330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Устанавливается с официального сайта nodejs.org.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Вместе с Node.js автоматически устанавливается npm.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Проверка установки: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257650" y="3055100"/>
            <a:ext cx="758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595959"/>
                </a:solidFill>
              </a:rPr>
              <a:t>Рекомендация: Использовать менеджер версий nvm для управления разными версиями Node.js.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Основы npm — менеджера пакетов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414425" y="2813850"/>
            <a:ext cx="4433700" cy="22857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Инициализация проекта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init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-y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Инициализация проекта c CommonJS</a:t>
            </a:r>
            <a:endParaRPr sz="1000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 init es6 -y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Инициализация проекта c ES6 modules</a:t>
            </a:r>
            <a:endParaRPr sz="1000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Установка пакета как зависимости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express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Установка пакета как dev-зависимости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--save-dev jest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Глобальная установка пакета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-g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nodemon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6" name="Google Shape;96;p18"/>
          <p:cNvSpPr txBox="1"/>
          <p:nvPr/>
        </p:nvSpPr>
        <p:spPr>
          <a:xfrm>
            <a:off x="232525" y="535650"/>
            <a:ext cx="5130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npm init — инициализация нового проекта (создает package.json).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npm install [package] — установка пакета.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npm uninstall [package] — удаление пакета.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npm update [package] — обновление пакета.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package.json — манифест проекта с зависимостями и скриптами.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500" y="828350"/>
            <a:ext cx="3285525" cy="406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package.json — сердце проекта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4770550" y="513350"/>
            <a:ext cx="3965400" cy="3021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"my-project"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"version"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"1.0.0"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"description"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"Мой первый Node.js проект"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"main"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"index.js"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"scripts"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"start"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"node index.js"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"dev"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"nodemon index.js"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"test"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"jest --passWithNoTests"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"dependencies"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"express"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"^5.1.0"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"devDependencies"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"jest"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"^30.2.0"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133500" y="715425"/>
            <a:ext cx="4438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name — название пакета.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version — версия пакета.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scripts — пользовательские скрипты для запуска задач.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dependencies — зависимости для production.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devDependencies — зависимости для разработки.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main — входная точка приложения.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npx — запуск пакетов без установки</a:t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441225" y="2283175"/>
            <a:ext cx="7708500" cy="1824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Запуск create-react-app без глобальной установки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npx create-react-app my-app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Запуск локально установленного пакета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npx jest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Выполнение кода напрямую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npx cowsay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"Hello, Node.js!"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237850" y="6843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npx — утилита для выполнения пакетов без их глобальной установки.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Автоматически устанавливает и запускает пакеты, если они не установлены.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Полезно для одноразовых задач и запуска инструментов.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272100" y="3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Node.js приложения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72100" y="1495250"/>
            <a:ext cx="4116600" cy="15777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my-project/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node_modules/    # Зависимости (автоматически)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src/            # Исходный код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│   ├── index.js    # Входная точка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│   └── utils/      # Вспомогательные модули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tests/          # Тесты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package.json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└── README.md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239100" y="435625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Модульная система CommonJS (require/module.exports).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Модули ES6 (import/export) в package.json с "type": "module".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Организация кода в отдельные файлы и папки.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72100" y="3094500"/>
            <a:ext cx="3593400" cy="1893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63500" marR="63500" rtl="0" algn="l">
              <a:lnSpc>
                <a:spcPct val="9926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javascript</a:t>
            </a:r>
            <a:endParaRPr sz="900">
              <a:solidFill>
                <a:srgbClr val="0F1115"/>
              </a:solidFill>
              <a:highlight>
                <a:srgbClr val="F9FAF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utils/math.js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exports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sum: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multiply: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index.js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math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'./utils/math'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700" y="1593640"/>
            <a:ext cx="4116600" cy="292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JavaScript приложений</a:t>
            </a:r>
            <a:endParaRPr/>
          </a:p>
        </p:txBody>
      </p:sp>
      <p:sp>
        <p:nvSpPr>
          <p:cNvPr id="129" name="Google Shape;12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237850" y="68435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Юнит-тесты — тестирование отдельных функций и модулей.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Интеграционные тесты — тестирование взаимодействия между компонентами.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Jest — популярный фреймворк для тестирования.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Mocha + Chai — альтернативный стек для тестирования.</a:t>
            </a:r>
            <a:br>
              <a:rPr lang="ru" sz="1800">
                <a:solidFill>
                  <a:srgbClr val="595959"/>
                </a:solidFill>
              </a:rPr>
            </a:br>
            <a:endParaRPr sz="1800">
              <a:solidFill>
                <a:srgbClr val="595959"/>
              </a:solidFill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272100" y="328385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Обнаружение ошибок на ранней стадии.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Уверенность при рефакторинге.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Документирование ожидаемого поведения кода.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2" name="Google Shape;132;p22"/>
          <p:cNvSpPr txBox="1"/>
          <p:nvPr>
            <p:ph type="title"/>
          </p:nvPr>
        </p:nvSpPr>
        <p:spPr>
          <a:xfrm>
            <a:off x="237850" y="2688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тестирования: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Настройка Jest для тестирования</a:t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531500" y="1736250"/>
            <a:ext cx="7708500" cy="1354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"scripts"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"test"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"jest"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"test:watch"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"jest --watch",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"test:coverage"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"jest --coverage"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000">
              <a:solidFill>
                <a:srgbClr val="50A1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237850" y="68435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Установка: npm install --save-dev jest.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Добавление тестового скрипта в package.json.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Создание файлов с тестами: *.test.js или в папке __tests__.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31500" y="3083400"/>
            <a:ext cx="7708500" cy="1354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exports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testEnvironment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'node'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coverageDirectory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'coverage'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collectCoverageFrom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'src/**/*.js'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E4564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Написание тестов с Jest</a:t>
            </a:r>
            <a:endParaRPr/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237850" y="684350"/>
            <a:ext cx="3235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test() или it() — определение теста.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expect() — утверждения (assertions).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describe() — группировка тестов.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9" name="Google Shape;149;p24"/>
          <p:cNvSpPr txBox="1"/>
          <p:nvPr/>
        </p:nvSpPr>
        <p:spPr>
          <a:xfrm>
            <a:off x="4402175" y="243600"/>
            <a:ext cx="44472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math.js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exports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sum: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multiply: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math.test.js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math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'./math'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describe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'Math module'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'sums two numbers correctly'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toBe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'multiplies two numbers correctly'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multiply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toBe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'sum handles negative numbers'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math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toBe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261475" y="84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Практика: создаем Telegram-бота</a:t>
            </a:r>
            <a:endParaRPr/>
          </a:p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226950" y="657150"/>
            <a:ext cx="4413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BotFather — официальный бот для создания новых ботов.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Webhook vs Long Polling — два способа получения обновлений.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node-telegram-bot-api — популярная библиотека для работы с Telegram Bot API.</a:t>
            </a:r>
            <a:br>
              <a:rPr lang="ru" sz="1800">
                <a:solidFill>
                  <a:srgbClr val="595959"/>
                </a:solidFill>
              </a:rPr>
            </a:br>
            <a:r>
              <a:rPr b="1" lang="ru" sz="1800">
                <a:solidFill>
                  <a:srgbClr val="595959"/>
                </a:solidFill>
              </a:rPr>
              <a:t>Шаги создания:</a:t>
            </a:r>
            <a:endParaRPr b="1"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Создать бота через @BotFather, получить токен.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Инициализировать Node.js проект.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Установить библиотеку node-telegram-bot-api.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Написать логику обработки сообщений.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Запустить бота.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025" y="1022650"/>
            <a:ext cx="4128724" cy="32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/>
        </p:nvSpPr>
        <p:spPr>
          <a:xfrm>
            <a:off x="365075" y="270750"/>
            <a:ext cx="77085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TelegramBot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'node-telegram-bot-api'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token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'YOUR_TELEGRAM_BOT_TOKEN'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Создаем экземпляр бота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bot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TelegramBot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token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polling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Обрабатываем команду /start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/\/start/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chatId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msg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chat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sendMessage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chatId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'Привет! Я твой первый бот!'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Обрабатываем текстовые сообщения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'message'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msg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chatId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msg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chat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text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msg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text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'/start'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sendMessage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chatId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`Вы сказали: 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'Бот запущен...'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3" name="Google Shape;16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738" y="131850"/>
            <a:ext cx="324802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Запуск и отладка бота</a:t>
            </a:r>
            <a:endParaRPr/>
          </a:p>
        </p:txBody>
      </p:sp>
      <p:sp>
        <p:nvSpPr>
          <p:cNvPr id="170" name="Google Shape;170;p27"/>
          <p:cNvSpPr txBox="1"/>
          <p:nvPr/>
        </p:nvSpPr>
        <p:spPr>
          <a:xfrm>
            <a:off x="361975" y="2190025"/>
            <a:ext cx="7708500" cy="592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--save-dev nodemon</a:t>
            </a:r>
            <a:b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--save dotenv</a:t>
            </a:r>
            <a:endParaRPr sz="1000">
              <a:solidFill>
                <a:srgbClr val="C699E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224600" y="677725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Запуск: node bot.js или через npm scripts.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nodemon — утилита для автоматического перезапуска при изменениях.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dotenv — пакет для загрузки переменных окружения из .env файла.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61975" y="3110925"/>
            <a:ext cx="7708500" cy="1100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"scripts"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"start"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"node bot.js"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"dev"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"nodemon bot.js"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6CB8E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361975" y="4324525"/>
            <a:ext cx="7708500" cy="592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'dotenv'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config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token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process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env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TELEGRAM_BOT_TOKEN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C699E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361975" y="267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Добавление в package.json: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Mocking и тестирование асинхронного кода</a:t>
            </a:r>
            <a:endParaRPr/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237850" y="684350"/>
            <a:ext cx="3649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jest.fn() — создание mock-функции.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jest.mock() — мокирование целых модулей.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async/await в тестах — тестирование асинхронного кода.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4046400" y="610000"/>
            <a:ext cx="4746300" cy="4402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api.js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module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exports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fetchData: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Предположим, что здесь HTTP-запрос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'some data'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api.test.js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api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'./api'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jest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mock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'./api'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Мокируем весь модуль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'fetchData returns expected data'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async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api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fetchData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mockResolvedValue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'mocked data'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result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await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api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fetchData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api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fetchData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toHaveBeenCalled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toEqual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'mocked data'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272100" y="141325"/>
            <a:ext cx="380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Интеграционное тестирование бота</a:t>
            </a:r>
            <a:endParaRPr/>
          </a:p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0" name="Google Shape;190;p29"/>
          <p:cNvSpPr txBox="1"/>
          <p:nvPr/>
        </p:nvSpPr>
        <p:spPr>
          <a:xfrm>
            <a:off x="237850" y="1172875"/>
            <a:ext cx="36492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Тестирование взаимодействия с Telegram API без реальных запросов.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Использование моков для node-telegram-bot-api.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Проверка правильности обработки сообщений.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078200" y="243600"/>
            <a:ext cx="47463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bot.test.js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TelegramBot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'node-telegram-bot-api'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jest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mock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'node-telegram-bot-api'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startBot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require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'./bot'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'bot responds to /start command'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Создаем mock бота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mockBot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onText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jest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jest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TelegramBot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mockImplementation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(()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mockBot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Запускаем бота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startBot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Проверяем, что обработчик команды /start был установлен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mockBot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onText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toHaveBeenCalledWith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/\/start/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expect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272100" y="141325"/>
            <a:ext cx="85641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ESLint - линтер для JavaScript</a:t>
            </a:r>
            <a:endParaRPr/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227225" y="774625"/>
            <a:ext cx="7350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ESLint — инструмент для статического анализа JavaScript-кода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Обнаруживает потенциальные ошибки и проблемные паттерны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Обеспечивает единый стиль кода в команде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Интегрируется с редакторами кода и CI/CD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9" name="Google Shape;199;p30"/>
          <p:cNvSpPr txBox="1"/>
          <p:nvPr>
            <p:ph type="title"/>
          </p:nvPr>
        </p:nvSpPr>
        <p:spPr>
          <a:xfrm>
            <a:off x="227225" y="2642975"/>
            <a:ext cx="8564100" cy="5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возможности:</a:t>
            </a:r>
            <a:endParaRPr/>
          </a:p>
        </p:txBody>
      </p:sp>
      <p:sp>
        <p:nvSpPr>
          <p:cNvPr id="200" name="Google Shape;200;p30"/>
          <p:cNvSpPr txBox="1"/>
          <p:nvPr/>
        </p:nvSpPr>
        <p:spPr>
          <a:xfrm>
            <a:off x="227225" y="3157250"/>
            <a:ext cx="735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Поиск синтаксических ошибок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Проверка соответствия code style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Обнаружение неиспользуемого кода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Выявление потенциальных багов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272100" y="14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настройка ESLint</a:t>
            </a:r>
            <a:endParaRPr/>
          </a:p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7" name="Google Shape;207;p31"/>
          <p:cNvSpPr txBox="1"/>
          <p:nvPr/>
        </p:nvSpPr>
        <p:spPr>
          <a:xfrm>
            <a:off x="301575" y="795850"/>
            <a:ext cx="655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Установка: npm install --save-dev eslint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Инициализация конфигурации: npx eslint --init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Запуск проверки: npx eslint yourfile.js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Автоисправление: npx eslint yourfile.js --fix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472475" y="2429275"/>
            <a:ext cx="3333900" cy="16086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"scripts"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"lint"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"eslint ."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"lint:fix"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"eslint . --fix"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272100" y="141325"/>
            <a:ext cx="501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Конфигурация ESLint (.eslintrc.json)</a:t>
            </a:r>
            <a:endParaRPr/>
          </a:p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272100" y="1257800"/>
            <a:ext cx="4562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env — окружение выполнения кода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extends — готовые конфигурации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rules — кастомные правила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plugins — дополнительные возможности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5071350" y="218000"/>
            <a:ext cx="34011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"env"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"node"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"es2021"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"extends"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"eslint:recommended"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"parserOptions"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"ecmaVersion"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"latest"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"sourceType"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"module"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"rules"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"indent"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"error"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"quotes"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"error"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"single"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"semi"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"error"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"always"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"no-unused-vars"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"warn"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"no-console"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"warn"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"prefer-const"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"error"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"eqeqeq"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"error"</a:t>
            </a:r>
            <a:endParaRPr sz="1000">
              <a:solidFill>
                <a:srgbClr val="50A14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272100" y="141325"/>
            <a:ext cx="501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Интеграция с редактором кода</a:t>
            </a:r>
            <a:endParaRPr/>
          </a:p>
        </p:txBody>
      </p:sp>
      <p:sp>
        <p:nvSpPr>
          <p:cNvPr id="222" name="Google Shape;22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3" name="Google Shape;223;p33"/>
          <p:cNvSpPr txBox="1"/>
          <p:nvPr/>
        </p:nvSpPr>
        <p:spPr>
          <a:xfrm>
            <a:off x="272100" y="663450"/>
            <a:ext cx="585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VS Code расширение: ESLint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Подсветка ошибок в реальном времени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Автоисправление при сохранении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Quick Fix через контекстное меню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Настройка VS Code (settings.json):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584300" y="2297050"/>
            <a:ext cx="3401100" cy="2624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"editor.codeActionsOnSave"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"source.fixAll.eslint"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"eslint.validate"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"javascript"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"typescript"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272100" y="141325"/>
            <a:ext cx="501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ESLint в действии - примеры</a:t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31" name="Google Shape;231;p34"/>
          <p:cNvSpPr txBox="1"/>
          <p:nvPr/>
        </p:nvSpPr>
        <p:spPr>
          <a:xfrm>
            <a:off x="272100" y="663450"/>
            <a:ext cx="585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Обнаружение неиспользуемых переменных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Проверка стиля кодирования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Выявление потенциальных ошибок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478100" y="1866950"/>
            <a:ext cx="3401100" cy="2878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ESLint найдет эти проблемы: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'x' is assigned a value but never used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Expected a conditional expression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Missing semicolon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var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'var' is deprecated, use 'let' or 'const'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4528100" y="1866950"/>
            <a:ext cx="3401100" cy="1354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Чистый код: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272100" y="141325"/>
            <a:ext cx="85641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лекции</a:t>
            </a:r>
            <a:endParaRPr/>
          </a:p>
        </p:txBody>
      </p:sp>
      <p:sp>
        <p:nvSpPr>
          <p:cNvPr id="239" name="Google Shape;23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0" name="Google Shape;240;p35"/>
          <p:cNvSpPr txBox="1"/>
          <p:nvPr/>
        </p:nvSpPr>
        <p:spPr>
          <a:xfrm>
            <a:off x="216600" y="864900"/>
            <a:ext cx="4881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Освоили Node.js и его модульную систему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Разобрались CommonJS и ES6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Научились работать с npm и npx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Настроили тестирование с Jest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Создали реального Telegram-бота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Настроили ESLint для поддержания качества кода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875" y="865725"/>
            <a:ext cx="4322075" cy="31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5"/>
          <p:cNvSpPr txBox="1"/>
          <p:nvPr/>
        </p:nvSpPr>
        <p:spPr>
          <a:xfrm>
            <a:off x="250850" y="3517125"/>
            <a:ext cx="268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Вопросы?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
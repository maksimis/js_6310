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c93ef6f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c93ef6f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c93ef6f6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c93ef6f6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ca0379690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ca037969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c93ef6f67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c93ef6f67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ca0379690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ca0379690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ca0379690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ca0379690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ca037969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ca037969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ca037969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ca037969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ca037969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6ca037969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ca037969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6ca037969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ca037969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ca037969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ca037969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6ca037969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ca037969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ca037969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ca037969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ca037969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ca0379690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ca037969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ca037969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6ca037969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ca0379690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6ca037969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ca0379690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6ca037969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ca0379690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6ca0379690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ca0379690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ca0379690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ca0379690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6ca0379690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42125" y="352350"/>
            <a:ext cx="8520600" cy="105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422325" y="2877900"/>
            <a:ext cx="44508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Программирование на JavaScript</a:t>
            </a:r>
            <a:br>
              <a:rPr lang="ru" sz="4291"/>
            </a:br>
            <a:r>
              <a:rPr lang="ru" sz="4291"/>
              <a:t>Преподаватель: Исанькин М.А.</a:t>
            </a:r>
            <a:br>
              <a:rPr lang="ru" sz="4291"/>
            </a:br>
            <a:br>
              <a:rPr lang="ru" sz="4291"/>
            </a:br>
            <a:r>
              <a:rPr lang="ru" sz="4291"/>
              <a:t>09.03.01 ИВТ ПИТТП</a:t>
            </a:r>
            <a:endParaRPr sz="4291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Группа 6310</a:t>
            </a:r>
            <a:br>
              <a:rPr lang="ru"/>
            </a:br>
            <a:br>
              <a:rPr lang="ru"/>
            </a:br>
            <a:r>
              <a:rPr lang="ru" sz="4291"/>
              <a:t>2025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125" y="1970075"/>
            <a:ext cx="4212525" cy="261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React?</a:t>
            </a:r>
            <a:endParaRPr/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232525" y="535650"/>
            <a:ext cx="69066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React — JavaScript-библиотека для создания UI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Разработана Facebook (Meta) в 2013 году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Компонентный подход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Виртуальный DOM для эффективного обновления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Однонаправленный поток данных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Основные концепции:</a:t>
            </a:r>
            <a:endParaRPr sz="1750">
              <a:solidFill>
                <a:srgbClr val="595959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48650" y="2385875"/>
            <a:ext cx="65688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🧩 Компоненты — строительные блоки приложения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♻️ Re-rendering — эффективное обновление интерфейса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📦 Props — передача данных между компонентами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🎯 State — внутреннее состояние компонентов</a:t>
            </a:r>
            <a:endParaRPr sz="175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102900" y="86925"/>
            <a:ext cx="3586800" cy="3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50">
                <a:solidFill>
                  <a:srgbClr val="595959"/>
                </a:solidFill>
              </a:rPr>
              <a:t>Real DOM (Браузерный DOM):</a:t>
            </a:r>
            <a:endParaRPr sz="17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🐌 Медленные обновления — перерисовка всего дерева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📝 Императивный подход — ручное управление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🔧 Прямые манипуляции — document.getElementById().innerHTML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💾 Тяжеловесный — сложная структура с методами</a:t>
            </a:r>
            <a:endParaRPr sz="1750">
              <a:solidFill>
                <a:srgbClr val="595959"/>
              </a:solidFill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5513" y="2298050"/>
            <a:ext cx="4778674" cy="26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3983775" y="86925"/>
            <a:ext cx="4701600" cy="23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Virtual DOM (React):</a:t>
            </a:r>
            <a:endParaRPr sz="1700">
              <a:solidFill>
                <a:schemeClr val="dk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🚀 Быстрые обновления — только необходимые изменения</a:t>
            </a:r>
            <a:endParaRPr>
              <a:solidFill>
                <a:schemeClr val="dk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📝 Декларативный подход — описываем что, а не как</a:t>
            </a:r>
            <a:endParaRPr>
              <a:solidFill>
                <a:schemeClr val="dk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🎯 Автоматическая оптимизация — React сам решает что обновить</a:t>
            </a:r>
            <a:endParaRPr>
              <a:solidFill>
                <a:schemeClr val="dk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🪶 Легковесный — простые JavaScript объекты</a:t>
            </a:r>
            <a:endParaRPr sz="195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Создание React приложения</a:t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503875" y="2118100"/>
            <a:ext cx="4433700" cy="2878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# С Create React App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npx create-react-app my-app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# npm init react-app my-app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cd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my-app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npm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start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# С Vite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(рекомендуется)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npm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create vite@latest my-react-app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cd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my-react-app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npm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install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npm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run dev</a:t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307075" y="621775"/>
            <a:ext cx="51309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Create React App — официальный инструмент для быстрого старта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Vite — современная альтернатива с быстрой сборкой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Ручная настройка — для полного контроля</a:t>
            </a:r>
            <a:endParaRPr sz="175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Сборщики проектов: Webpack vs Vite</a:t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613550" y="2736350"/>
            <a:ext cx="6855300" cy="2167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Webpack: </a:t>
            </a:r>
            <a:endParaRPr sz="12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[Запрос] → [Сборка всего бандла] → [Отдача бандла] → [Запуск приложения]</a:t>
            </a:r>
            <a:endParaRPr sz="12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(Медленно при разработке)</a:t>
            </a:r>
            <a:endParaRPr sz="12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Vite:</a:t>
            </a:r>
            <a:endParaRPr sz="12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[Запрос] → [Нативный ES модуль] → [Отдача модуля] → [Запуск приложения]</a:t>
            </a:r>
            <a:endParaRPr sz="12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(Мгновенно при разработке)</a:t>
            </a:r>
            <a:endParaRPr sz="12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307075" y="621775"/>
            <a:ext cx="5130900" cy="20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Сборщик (bundler) — инструмент для подготовки кода к продакшену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Webpack — традиционный, мощный сборщик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Vite — современный, быстрый сборщик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Основные задачи: объединение файлов, транспиляция, оптимизация</a:t>
            </a:r>
            <a:endParaRPr sz="175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272100" y="141325"/>
            <a:ext cx="194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Webpack</a:t>
            </a:r>
            <a:endParaRPr/>
          </a:p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307075" y="621775"/>
            <a:ext cx="7939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🏗️ Создан в 2014 — проверенная стабильность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📦 Огромная экосистема — тысячи плагинов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🔧 Высокая настраиваемость — полный контроль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🐌 Медленная разработка — сборка при каждом изменении</a:t>
            </a:r>
            <a:endParaRPr sz="1750">
              <a:solidFill>
                <a:srgbClr val="595959"/>
              </a:solidFill>
            </a:endParaRPr>
          </a:p>
        </p:txBody>
      </p:sp>
      <p:sp>
        <p:nvSpPr>
          <p:cNvPr id="96" name="Google Shape;96;p18"/>
          <p:cNvSpPr txBox="1"/>
          <p:nvPr>
            <p:ph type="title"/>
          </p:nvPr>
        </p:nvSpPr>
        <p:spPr>
          <a:xfrm>
            <a:off x="307075" y="2128475"/>
            <a:ext cx="32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Vite</a:t>
            </a:r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438850" y="2733600"/>
            <a:ext cx="74649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🚀 Создан в 2020 — современная архитектура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⚡ Мгновенный запуск — нативные ES модули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🎯 Оптимизирован для разработки — нет сборки при каждом изменении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📦 Из коробки — минимум конфигурации</a:t>
            </a:r>
            <a:endParaRPr sz="175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Первый React компонент</a:t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72100" y="1849750"/>
            <a:ext cx="4296900" cy="3132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src/App.jsx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Welcome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'./components/Welcome'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'./App.css'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className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"App"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Welcome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Welcome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export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default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App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307075" y="621775"/>
            <a:ext cx="5130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Функциональные компоненты — современный подход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JSX — JavaScript XML (синтаксис для разметки)</a:t>
            </a:r>
            <a:endParaRPr sz="1750">
              <a:solidFill>
                <a:srgbClr val="595959"/>
              </a:solidFill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4865300" y="193225"/>
            <a:ext cx="4195500" cy="41481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src/components/Welcome.jsx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React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'react'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Welcome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name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"Студент"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className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"welcome"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Привет,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Добро пожаловать в изучение React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button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={()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alert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'Кнопка нажата!'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)}&gt;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Нажми меня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export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default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Welcome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Props - передача данных</a:t>
            </a:r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34275" y="2336300"/>
            <a:ext cx="5256000" cy="26244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Компонент с props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UserCard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age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email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isOnline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className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={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`user-card </a:t>
            </a:r>
            <a:r>
              <a:rPr lang="ru" sz="1000">
                <a:solidFill>
                  <a:srgbClr val="CA1243"/>
                </a:solidFill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isOnline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'online'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offline'</a:t>
            </a:r>
            <a:r>
              <a:rPr lang="ru" sz="1000">
                <a:solidFill>
                  <a:srgbClr val="CA124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Возраст: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age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Email: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email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isOnline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'🟢 Online'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'🔴 Offline'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&gt;);}</a:t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311825" y="509975"/>
            <a:ext cx="46161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Props (properties) — данные, передаваемые в компонент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Read-only — props нельзя изменять внутри компонента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Деструктуризация — удобное извлечение props</a:t>
            </a:r>
            <a:endParaRPr sz="1750">
              <a:solidFill>
                <a:srgbClr val="595959"/>
              </a:solidFill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4948500" y="-10350"/>
            <a:ext cx="4195500" cy="5164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Использование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user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"Анна Петрова"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age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email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"anna@example.com"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UserCard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={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age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={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age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email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={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email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isOnline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={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UserCard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"Борис Иванов"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age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={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email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"boris@example.com"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);}</a:t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248425" y="60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State - состояние компонента</a:t>
            </a:r>
            <a:endParaRPr/>
          </a:p>
        </p:txBody>
      </p:sp>
      <p:sp>
        <p:nvSpPr>
          <p:cNvPr id="121" name="Google Shape;12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2" name="Google Shape;122;p21"/>
          <p:cNvSpPr txBox="1"/>
          <p:nvPr/>
        </p:nvSpPr>
        <p:spPr>
          <a:xfrm>
            <a:off x="248425" y="580975"/>
            <a:ext cx="46161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useState — хук для управления состоянием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State — данные, которые могут изменяться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Immutable updates — обновление состояния через set-функцию</a:t>
            </a:r>
            <a:endParaRPr sz="175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8" name="Google Shape;128;p22"/>
          <p:cNvSpPr txBox="1"/>
          <p:nvPr/>
        </p:nvSpPr>
        <p:spPr>
          <a:xfrm>
            <a:off x="133550" y="165650"/>
            <a:ext cx="3979500" cy="3640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useState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'react'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Counter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setCount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useState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useState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increment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setCount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count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decrement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setCount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count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reset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setCount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4327850" y="142950"/>
            <a:ext cx="4651500" cy="4656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className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"counter"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Счетчик: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input 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"text"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placeholder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"Введите имя"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={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onChange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={(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target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)}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Привет,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name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||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'незнакомец'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className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"buttons"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button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={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decrement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button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={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reset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Сброс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button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={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increment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Обработка событий и формы</a:t>
            </a:r>
            <a:endParaRPr/>
          </a:p>
        </p:txBody>
      </p:sp>
      <p:sp>
        <p:nvSpPr>
          <p:cNvPr id="135" name="Google Shape;13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36" name="Google Shape;136;p23"/>
          <p:cNvSpPr txBox="1"/>
          <p:nvPr/>
        </p:nvSpPr>
        <p:spPr>
          <a:xfrm>
            <a:off x="272100" y="609375"/>
            <a:ext cx="46161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Синтаксис событий: camelCase (onClick, onChange)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Формы: управляемые компоненты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preventDefault — отмена стандартного поведения</a:t>
            </a:r>
            <a:endParaRPr sz="175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2" name="Google Shape;142;p24"/>
          <p:cNvSpPr txBox="1"/>
          <p:nvPr/>
        </p:nvSpPr>
        <p:spPr>
          <a:xfrm>
            <a:off x="133550" y="165650"/>
            <a:ext cx="4194300" cy="56721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useState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'react'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LoginForm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formData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setFormData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useState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email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password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rememberMe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handleChange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value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type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checked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target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setFormData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prev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prev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type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===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'checkbox'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checked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value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}));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handleSubmit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preventDefault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console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'Данные формы:'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formData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Отправка данных на сервер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A626A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" name="Google Shape;143;p24"/>
          <p:cNvSpPr txBox="1"/>
          <p:nvPr/>
        </p:nvSpPr>
        <p:spPr>
          <a:xfrm>
            <a:off x="4327850" y="142950"/>
            <a:ext cx="4651500" cy="104976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form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onSubmit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={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handleSubmit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className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"login-form"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Вход в систему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className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"form-group"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Email: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"email"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"email"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={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formData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email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onChange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={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handleChange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required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className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"form-group"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Пароль: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"password"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"password"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={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formData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password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onChange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={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handleChange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required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className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"form-group"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"checkbox"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"rememberMe"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checked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={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formData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rememberMe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onChange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={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handleChange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    Запомнить меня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button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"submit"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Войти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form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A626A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useEffect - побочные эффекты</a:t>
            </a:r>
            <a:endParaRPr/>
          </a:p>
        </p:txBody>
      </p:sp>
      <p:sp>
        <p:nvSpPr>
          <p:cNvPr id="149" name="Google Shape;14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50" name="Google Shape;150;p25"/>
          <p:cNvSpPr txBox="1"/>
          <p:nvPr/>
        </p:nvSpPr>
        <p:spPr>
          <a:xfrm>
            <a:off x="272100" y="609375"/>
            <a:ext cx="46161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useEffect — хук для побочных эффектов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Жизненный цикл компонента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Зависимости — контроль выполнения эффекта</a:t>
            </a:r>
            <a:endParaRPr sz="175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56" name="Google Shape;156;p26"/>
          <p:cNvSpPr txBox="1"/>
          <p:nvPr/>
        </p:nvSpPr>
        <p:spPr>
          <a:xfrm>
            <a:off x="133550" y="165650"/>
            <a:ext cx="4940100" cy="59259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useState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useEffect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'react'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UserProfile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userId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useState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loading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setLoading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useState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useState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Эффект для загрузки данных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useEffect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userId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fetchUser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async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setLoading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response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fetch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`/api/users/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userId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userData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response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userData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catch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err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'Ошибка загрузки пользователя'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finally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setLoading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fetchUser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userId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]);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Зависимость - эффект выполнится при изменении userId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" name="Google Shape;157;p26"/>
          <p:cNvSpPr txBox="1"/>
          <p:nvPr/>
        </p:nvSpPr>
        <p:spPr>
          <a:xfrm>
            <a:off x="4605225" y="142950"/>
            <a:ext cx="4500000" cy="49101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Эффект для заголовка страницы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useEffect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document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title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`Профиль: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Функция очистки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document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title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'Мое приложение'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]);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loading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Загрузка...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Ошибка: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Пользователь не найден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className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"user-profile"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Email: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email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Город: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city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);}</a:t>
            </a:r>
            <a:endParaRPr sz="1000">
              <a:solidFill>
                <a:srgbClr val="A626A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React с </a:t>
            </a:r>
            <a:r>
              <a:rPr lang="ru"/>
              <a:t>TypeScript</a:t>
            </a:r>
            <a:endParaRPr/>
          </a:p>
        </p:txBody>
      </p:sp>
      <p:sp>
        <p:nvSpPr>
          <p:cNvPr id="163" name="Google Shape;163;p27"/>
          <p:cNvSpPr txBox="1"/>
          <p:nvPr/>
        </p:nvSpPr>
        <p:spPr>
          <a:xfrm>
            <a:off x="4990675" y="958525"/>
            <a:ext cx="3225900" cy="3387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npm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create vite@latest my-react-app</a:t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" name="Google Shape;16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65" name="Google Shape;165;p27"/>
          <p:cNvSpPr txBox="1"/>
          <p:nvPr/>
        </p:nvSpPr>
        <p:spPr>
          <a:xfrm>
            <a:off x="321275" y="598125"/>
            <a:ext cx="51309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Создание React + TypeScript проекта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Типизация компонентов и props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TypeScript с JSX (.tsx файлы)</a:t>
            </a:r>
            <a:endParaRPr sz="1750">
              <a:solidFill>
                <a:srgbClr val="595959"/>
              </a:solidFill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390275" y="1540575"/>
            <a:ext cx="4433700" cy="33864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# Структура проекта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my-ts-react-app/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├── src/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│   ├── App.css      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# TypeScript + JSX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│   ├── 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App.tsx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│   ├── index.css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│   └── main.tsx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├── index.html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├── tsconfig.app.json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├── tsconfig.json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├── tsconfig.node.json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├── vite.config.ts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└── package.json</a:t>
            </a:r>
            <a:endParaRPr sz="1000">
              <a:solidFill>
                <a:srgbClr val="407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4949125" y="1564000"/>
            <a:ext cx="3819900" cy="26244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React типы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ReactNode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MouseEvent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FormEvent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'react'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Типы событий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React.MouseEvent&lt;HTMLButtonElement&gt;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React.ChangeEvent&lt;HTMLInputElement&gt;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React.FormEvent&lt;HTMLFormElement&gt;</a:t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407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Типизация компонентов и props</a:t>
            </a:r>
            <a:endParaRPr/>
          </a:p>
        </p:txBody>
      </p:sp>
      <p:sp>
        <p:nvSpPr>
          <p:cNvPr id="173" name="Google Shape;17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74" name="Google Shape;174;p28"/>
          <p:cNvSpPr txBox="1"/>
          <p:nvPr/>
        </p:nvSpPr>
        <p:spPr>
          <a:xfrm>
            <a:off x="272100" y="609375"/>
            <a:ext cx="46161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React.FC — тип функционального компонента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Interface для props — описание ожидаемых свойств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Children — типизация дочерних элементов</a:t>
            </a:r>
            <a:endParaRPr sz="1750">
              <a:solidFill>
                <a:srgbClr val="595959"/>
              </a:solidFill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4572000" y="735975"/>
            <a:ext cx="4433700" cy="178629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ReactNode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FC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'react'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Простой компонент с типизацией props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ButtonProps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text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onClick: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variant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?: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'primary'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'secondary'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'danger'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disabled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?: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Button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FC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ButtonProps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text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onClick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variant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'primary'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disabled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button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className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`btn btn-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variant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onClick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disabled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disabled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Компонент с children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CardProps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title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children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ReactNode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footer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?: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ReactNode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Card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FC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CardProps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title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children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footer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div className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"card"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h3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h3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div className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"card-content"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children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footer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&amp;&amp;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div className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"card-footer"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footer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Использование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Button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text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"Нажми меня"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onClick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'Клик!'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variant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"primary"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Card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title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"Информация о пользователе"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footer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Button text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"Сохранить"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onClick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{}}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Это содержимое карточки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Дети компонента передаются как children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Card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Типизация useState и событий</a:t>
            </a:r>
            <a:endParaRPr/>
          </a:p>
        </p:txBody>
      </p:sp>
      <p:sp>
        <p:nvSpPr>
          <p:cNvPr id="181" name="Google Shape;18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82" name="Google Shape;182;p29"/>
          <p:cNvSpPr txBox="1"/>
          <p:nvPr/>
        </p:nvSpPr>
        <p:spPr>
          <a:xfrm>
            <a:off x="272100" y="609375"/>
            <a:ext cx="46161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Типизация состояния — дженерик useState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Типы событий — React тип события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Union types для ограничения значений</a:t>
            </a:r>
            <a:endParaRPr sz="1750">
              <a:solidFill>
                <a:srgbClr val="595959"/>
              </a:solidFill>
            </a:endParaRPr>
          </a:p>
        </p:txBody>
      </p:sp>
      <p:sp>
        <p:nvSpPr>
          <p:cNvPr id="183" name="Google Shape;183;p29"/>
          <p:cNvSpPr txBox="1"/>
          <p:nvPr/>
        </p:nvSpPr>
        <p:spPr>
          <a:xfrm>
            <a:off x="4572000" y="735975"/>
            <a:ext cx="4433700" cy="191328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useState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ChangeEvent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FormEvent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'react'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id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name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email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role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'admin'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'user'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'moderator'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UserForm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Типизация состояния с примитивами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useState&lt;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age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setAge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useState&lt;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isActive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setIsActive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useState&lt;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Типизация состояния с объектами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useState&lt;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Типизация состояния с массивом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users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setUsers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useState&lt;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([]);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Union type для ограничения значений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status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setStatus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useState&lt;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'loading'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'success'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'error'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'loading'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Обработчики с типизацией событий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handleNameChange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ChangeEvent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HTMLInputElement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target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handleAgeChange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ChangeEvent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HTMLInputElement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setAge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target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handleSubmit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FormEvent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HTMLFormElement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preventDefault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newUser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User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id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Date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now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email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toLowerCase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()}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@example.com`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role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'user'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setUsers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prev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prev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newUser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setAge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form onSubmit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handleSubmit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input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type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"text"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value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onChange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handleNameChange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placeholder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"Имя пользователя"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input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type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"number"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value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age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onChange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handleAgeChange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placeholder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"Возраст"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button type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"submit"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Добавить пользователя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form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A626A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Типизация useEffect и API запросов</a:t>
            </a:r>
            <a:endParaRPr/>
          </a:p>
        </p:txBody>
      </p:sp>
      <p:sp>
        <p:nvSpPr>
          <p:cNvPr id="189" name="Google Shape;18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90" name="Google Shape;190;p30"/>
          <p:cNvSpPr txBox="1"/>
          <p:nvPr/>
        </p:nvSpPr>
        <p:spPr>
          <a:xfrm>
            <a:off x="272100" y="609375"/>
            <a:ext cx="46161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Типизация асинхронных функций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Обработка ошибок с TypeScript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Типы для API ответов</a:t>
            </a:r>
            <a:endParaRPr sz="1750">
              <a:solidFill>
                <a:srgbClr val="595959"/>
              </a:solidFill>
            </a:endParaRPr>
          </a:p>
        </p:txBody>
      </p:sp>
      <p:sp>
        <p:nvSpPr>
          <p:cNvPr id="191" name="Google Shape;191;p30"/>
          <p:cNvSpPr txBox="1"/>
          <p:nvPr/>
        </p:nvSpPr>
        <p:spPr>
          <a:xfrm>
            <a:off x="4572000" y="735975"/>
            <a:ext cx="4433700" cy="16593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useState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useEffect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'react'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userId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id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title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body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ApiError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message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code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PostsList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posts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setPosts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useState&lt;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([]);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loading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setLoading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useState&lt;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useState&lt;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useEffect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fetchPosts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async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Promise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setLoading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response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fetch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'https://jsonplaceholder.typicode.com/posts'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response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ok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throw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`HTTP error! status: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response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status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data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Post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response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setPosts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slice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Берем только 5 постов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catch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err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err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instanceof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err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message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'Unknown error'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finally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setLoading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fetchPosts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[]);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loading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Загрузка постов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...&lt;/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Ошибка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Последние посты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posts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post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article key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h3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h3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article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))}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Кастомные хуки с TypeScript</a:t>
            </a:r>
            <a:endParaRPr/>
          </a:p>
        </p:txBody>
      </p:sp>
      <p:sp>
        <p:nvSpPr>
          <p:cNvPr id="197" name="Google Shape;19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98" name="Google Shape;198;p31"/>
          <p:cNvSpPr txBox="1"/>
          <p:nvPr/>
        </p:nvSpPr>
        <p:spPr>
          <a:xfrm>
            <a:off x="272100" y="609375"/>
            <a:ext cx="4616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Типизация кастомных хуков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Возвращаемые значения с четкими типами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Параметры хуков с типизацией</a:t>
            </a:r>
            <a:endParaRPr sz="1750">
              <a:solidFill>
                <a:srgbClr val="595959"/>
              </a:solidFill>
            </a:endParaRPr>
          </a:p>
        </p:txBody>
      </p:sp>
      <p:sp>
        <p:nvSpPr>
          <p:cNvPr id="199" name="Google Shape;199;p31"/>
          <p:cNvSpPr txBox="1"/>
          <p:nvPr/>
        </p:nvSpPr>
        <p:spPr>
          <a:xfrm>
            <a:off x="4572000" y="735975"/>
            <a:ext cx="4433700" cy="259899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useState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useEffect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'react'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Хук для localStorage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export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useLocalStorage&lt;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key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initialValue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val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storedValue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setStoredValue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useState&lt;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item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window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localStorage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getItem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item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parse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initialValue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catch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`Error reading localStorage key 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":`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initialValue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setValue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val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valueToStore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value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instanceof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storedValue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value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setStoredValue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valueToStore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window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localStorage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setItem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stringify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valueToStore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catch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`Error setting localStorage key 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":`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storedValue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setValue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Хук для API запросов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UseApiResult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data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loading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error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refetch: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export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useApi&lt;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url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UseApiResult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setData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useState&lt;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loading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setLoading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useState&lt;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useState&lt;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fetchData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async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setLoading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response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fetch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url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response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ok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throw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`HTTP error! status: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response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status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result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response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setData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catch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err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err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instanceof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err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message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'Unknown error'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finally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setLoading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useEffect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fetchData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url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data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loading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refetch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fetchData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Использование кастомных хуков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Settings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theme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'light'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'dark'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language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notifications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UserSettings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settings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setSettings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useLocalStorage&lt;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Settings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'user-settings'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theme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'light'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language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'ru'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notifications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data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loading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error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useApi&lt;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'/api/user/1'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... компонент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A626A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Context API с TypeScript</a:t>
            </a:r>
            <a:endParaRPr/>
          </a:p>
        </p:txBody>
      </p:sp>
      <p:sp>
        <p:nvSpPr>
          <p:cNvPr id="205" name="Google Shape;20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06" name="Google Shape;206;p32"/>
          <p:cNvSpPr txBox="1"/>
          <p:nvPr/>
        </p:nvSpPr>
        <p:spPr>
          <a:xfrm>
            <a:off x="272100" y="609375"/>
            <a:ext cx="46161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Типизация Context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useContext с типами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Provider с типизированным value</a:t>
            </a:r>
            <a:endParaRPr sz="1750">
              <a:solidFill>
                <a:srgbClr val="595959"/>
              </a:solidFill>
            </a:endParaRPr>
          </a:p>
        </p:txBody>
      </p:sp>
      <p:sp>
        <p:nvSpPr>
          <p:cNvPr id="207" name="Google Shape;207;p32"/>
          <p:cNvSpPr txBox="1"/>
          <p:nvPr/>
        </p:nvSpPr>
        <p:spPr>
          <a:xfrm>
            <a:off x="4572000" y="735975"/>
            <a:ext cx="4433700" cy="24466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createContext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useContext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useState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ReactNode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FC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'react'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Типы для контекста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id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name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email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AuthContextType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user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User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login: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email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password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Promise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logout: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isAuthenticated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Создание контекста с типом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AuthContext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createContext&lt;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AuthContextType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undefined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undefined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Провайдер контекста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AuthProviderProps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children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ReactNode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export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AuthProvider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FC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AuthProviderProps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children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setUser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useState&lt;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User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login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async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email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password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Promise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Имитация API запроса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Promise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resolve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setTimeout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resolve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1000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mockUser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User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id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name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'Анна Петрова'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email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email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mockUser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logout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setUser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value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AuthContextType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login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logout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isAuthenticated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!!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AuthContext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Provider value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children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AuthContext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Provider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Кастомный хук для использования контекста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export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useAuth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AuthContextType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context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useContext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AuthContext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context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===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undefined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throw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Error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'useAuth must be used within an AuthProvider'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context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Использование в компоненте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UserProfile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FC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login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logout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isAuthenticated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useAuth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isAuthenticated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button onClick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login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'test@example.com'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'password'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)}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    Войти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Привет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?.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!&lt;/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Email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?.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email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button onClick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logout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Выйти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A626A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272100" y="141325"/>
            <a:ext cx="527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Best Practices React + TypeScript</a:t>
            </a:r>
            <a:endParaRPr/>
          </a:p>
        </p:txBody>
      </p:sp>
      <p:sp>
        <p:nvSpPr>
          <p:cNvPr id="213" name="Google Shape;21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14" name="Google Shape;214;p33"/>
          <p:cNvSpPr txBox="1"/>
          <p:nvPr/>
        </p:nvSpPr>
        <p:spPr>
          <a:xfrm>
            <a:off x="144325" y="595175"/>
            <a:ext cx="44040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50"/>
              <a:buChar char="●"/>
            </a:pPr>
            <a:r>
              <a:rPr lang="ru" sz="1450">
                <a:solidFill>
                  <a:srgbClr val="595959"/>
                </a:solidFill>
              </a:rPr>
              <a:t>✅ Используйте функциональные компоненты</a:t>
            </a:r>
            <a:endParaRPr sz="1450">
              <a:solidFill>
                <a:srgbClr val="595959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50"/>
              <a:buChar char="●"/>
            </a:pPr>
            <a:r>
              <a:rPr lang="ru" sz="1450">
                <a:solidFill>
                  <a:srgbClr val="595959"/>
                </a:solidFill>
              </a:rPr>
              <a:t>✅ Типизируйте все props</a:t>
            </a:r>
            <a:endParaRPr sz="1450">
              <a:solidFill>
                <a:srgbClr val="595959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50"/>
              <a:buChar char="●"/>
            </a:pPr>
            <a:r>
              <a:rPr lang="ru" sz="1450">
                <a:solidFill>
                  <a:srgbClr val="595959"/>
                </a:solidFill>
              </a:rPr>
              <a:t>✅ Используйте interface для сложных объектов</a:t>
            </a:r>
            <a:endParaRPr sz="1450">
              <a:solidFill>
                <a:srgbClr val="595959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50"/>
              <a:buChar char="●"/>
            </a:pPr>
            <a:r>
              <a:rPr lang="ru" sz="1450">
                <a:solidFill>
                  <a:srgbClr val="595959"/>
                </a:solidFill>
              </a:rPr>
              <a:t>✅ Избегайте any типа</a:t>
            </a:r>
            <a:endParaRPr sz="1450">
              <a:solidFill>
                <a:srgbClr val="595959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50"/>
              <a:buChar char="●"/>
            </a:pPr>
            <a:r>
              <a:rPr lang="ru" sz="1450">
                <a:solidFill>
                  <a:srgbClr val="595959"/>
                </a:solidFill>
              </a:rPr>
              <a:t>✅ Используйте union types для ограничения значений</a:t>
            </a:r>
            <a:endParaRPr sz="1550">
              <a:solidFill>
                <a:srgbClr val="595959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50"/>
              <a:buChar char="●"/>
            </a:pPr>
            <a:r>
              <a:rPr lang="ru" sz="1450">
                <a:solidFill>
                  <a:srgbClr val="595959"/>
                </a:solidFill>
              </a:rPr>
              <a:t>✅ Создавайте кастомные хуки с типами</a:t>
            </a:r>
            <a:endParaRPr sz="1450">
              <a:solidFill>
                <a:srgbClr val="595959"/>
              </a:solidFill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50"/>
              <a:buChar char="●"/>
            </a:pPr>
            <a:r>
              <a:rPr lang="ru" sz="1450">
                <a:solidFill>
                  <a:srgbClr val="595959"/>
                </a:solidFill>
              </a:rPr>
              <a:t>✅ Типизируйте события и обработчики</a:t>
            </a:r>
            <a:endParaRPr sz="1450">
              <a:solidFill>
                <a:srgbClr val="595959"/>
              </a:solidFill>
            </a:endParaRPr>
          </a:p>
        </p:txBody>
      </p:sp>
      <p:sp>
        <p:nvSpPr>
          <p:cNvPr id="215" name="Google Shape;215;p33"/>
          <p:cNvSpPr txBox="1"/>
          <p:nvPr/>
        </p:nvSpPr>
        <p:spPr>
          <a:xfrm>
            <a:off x="272100" y="3660950"/>
            <a:ext cx="3322500" cy="11004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Component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props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any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...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A626A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6" name="Google Shape;216;p33"/>
          <p:cNvSpPr txBox="1"/>
          <p:nvPr/>
        </p:nvSpPr>
        <p:spPr>
          <a:xfrm>
            <a:off x="4733950" y="954675"/>
            <a:ext cx="4433700" cy="3894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ComponentProps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title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count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onUpdate: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variant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?: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'primary'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'secondary'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Component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FC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ComponentProps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title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count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onUpdate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variant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'primary'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...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A626A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7" name="Google Shape;217;p33"/>
          <p:cNvSpPr txBox="1"/>
          <p:nvPr>
            <p:ph type="title"/>
          </p:nvPr>
        </p:nvSpPr>
        <p:spPr>
          <a:xfrm>
            <a:off x="272100" y="2963100"/>
            <a:ext cx="128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Плохо:</a:t>
            </a:r>
            <a:endParaRPr/>
          </a:p>
        </p:txBody>
      </p:sp>
      <p:sp>
        <p:nvSpPr>
          <p:cNvPr id="218" name="Google Shape;218;p33"/>
          <p:cNvSpPr txBox="1"/>
          <p:nvPr>
            <p:ph type="title"/>
          </p:nvPr>
        </p:nvSpPr>
        <p:spPr>
          <a:xfrm>
            <a:off x="5547000" y="381975"/>
            <a:ext cx="204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Хорошо: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
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5143500" cx="9144000"/>
  <p:notesSz cx="6858000" cy="9144000"/>
  <p:embeddedFontLst>
    <p:embeddedFont>
      <p:font typeface="Roboto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Roboto-bold.fntdata"/><Relationship Id="rId23" Type="http://schemas.openxmlformats.org/officeDocument/2006/relationships/font" Target="fonts/Roboto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oboto-boldItalic.fntdata"/><Relationship Id="rId25" Type="http://schemas.openxmlformats.org/officeDocument/2006/relationships/font" Target="fonts/Robo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6c93ef6f6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6c93ef6f6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6c93ef6f67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6c93ef6f67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af2d295421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af2d295421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af2d295421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af2d295421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af2d295421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af2d295421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af2d295421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af2d295421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af2d295421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af2d295421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af2d295421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af2d295421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af2d295421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af2d295421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af2d295421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af2d295421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af2d295421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af2d295421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af2d295421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af2d295421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af2d295421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af2d295421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86631a520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86631a520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af2d295421_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af2d295421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af2d295421_0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af2d295421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af2d295421_0_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af2d295421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242125" y="352350"/>
            <a:ext cx="8520600" cy="14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От React к фреймворкам и production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4422325" y="2877900"/>
            <a:ext cx="4450800" cy="200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47500" lnSpcReduction="2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" sz="4291"/>
              <a:t>Программирование на JavaScript</a:t>
            </a:r>
            <a:br>
              <a:rPr lang="ru" sz="4291"/>
            </a:br>
            <a:r>
              <a:rPr lang="ru" sz="4291"/>
              <a:t>Преподаватель: Исанькин М.А.</a:t>
            </a:r>
            <a:br>
              <a:rPr lang="ru" sz="4291"/>
            </a:br>
            <a:br>
              <a:rPr lang="ru" sz="4291"/>
            </a:br>
            <a:r>
              <a:rPr lang="ru" sz="4291"/>
              <a:t>09.03.01 ИВТ ПИТТП</a:t>
            </a:r>
            <a:endParaRPr sz="4291"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" sz="4291"/>
              <a:t>Группа 6310</a:t>
            </a:r>
            <a:br>
              <a:rPr lang="ru"/>
            </a:br>
            <a:br>
              <a:rPr lang="ru"/>
            </a:br>
            <a:r>
              <a:rPr lang="ru" sz="4291"/>
              <a:t>2025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1065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Что мы изучили за курс</a:t>
            </a:r>
            <a:endParaRPr/>
          </a:p>
        </p:txBody>
      </p:sp>
      <p:sp>
        <p:nvSpPr>
          <p:cNvPr id="61" name="Google Shape;6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62" name="Google Shape;62;p14"/>
          <p:cNvSpPr txBox="1"/>
          <p:nvPr/>
        </p:nvSpPr>
        <p:spPr>
          <a:xfrm>
            <a:off x="219150" y="951000"/>
            <a:ext cx="6906600" cy="324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800">
                <a:solidFill>
                  <a:srgbClr val="0F1115"/>
                </a:solidFill>
                <a:highlight>
                  <a:srgbClr val="FFFFFF"/>
                </a:highlight>
              </a:rPr>
              <a:t>Основы JavaScript и TypeScript</a:t>
            </a:r>
            <a:endParaRPr b="1" sz="1800">
              <a:solidFill>
                <a:srgbClr val="0F1115"/>
              </a:solidFill>
              <a:highlight>
                <a:srgbClr val="FFFFFF"/>
              </a:highlight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ru" sz="1800">
                <a:solidFill>
                  <a:srgbClr val="0F1115"/>
                </a:solidFill>
                <a:highlight>
                  <a:srgbClr val="FFFFFF"/>
                </a:highlight>
              </a:rPr>
            </a:br>
            <a:r>
              <a:rPr lang="ru" sz="1800">
                <a:solidFill>
                  <a:srgbClr val="0F1115"/>
                </a:solidFill>
                <a:highlight>
                  <a:srgbClr val="FFFFFF"/>
                </a:highlight>
              </a:rPr>
              <a:t>✅ Синтаксис JavaScript (переменные, функции, объекты, массивы)</a:t>
            </a:r>
            <a:endParaRPr sz="1800">
              <a:solidFill>
                <a:srgbClr val="0F1115"/>
              </a:solidFill>
              <a:highlight>
                <a:srgbClr val="FFFFFF"/>
              </a:highlight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70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0F1115"/>
                </a:solidFill>
                <a:highlight>
                  <a:srgbClr val="FFFFFF"/>
                </a:highlight>
              </a:rPr>
              <a:t>✅ Асинхронность (Promise, async/await, Event Loop)</a:t>
            </a:r>
            <a:endParaRPr sz="1800">
              <a:solidFill>
                <a:srgbClr val="0F1115"/>
              </a:solidFill>
              <a:highlight>
                <a:srgbClr val="FFFFFF"/>
              </a:highlight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70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0F1115"/>
                </a:solidFill>
                <a:highlight>
                  <a:srgbClr val="FFFFFF"/>
                </a:highlight>
              </a:rPr>
              <a:t>✅ TypeScript (типы, интерфейсы, дженерики)</a:t>
            </a:r>
            <a:endParaRPr sz="1800">
              <a:solidFill>
                <a:srgbClr val="0F1115"/>
              </a:solidFill>
              <a:highlight>
                <a:srgbClr val="FFFFFF"/>
              </a:highlight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70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0F1115"/>
                </a:solidFill>
                <a:highlight>
                  <a:srgbClr val="FFFFFF"/>
                </a:highlight>
              </a:rPr>
              <a:t>✅ Node.js, npm, инструменты разработки</a:t>
            </a:r>
            <a:endParaRPr sz="1800">
              <a:solidFill>
                <a:srgbClr val="0F1115"/>
              </a:solidFill>
              <a:highlight>
                <a:srgbClr val="FFFFFF"/>
              </a:highlight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F1115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1065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Что мы изучили за курс</a:t>
            </a:r>
            <a:endParaRPr/>
          </a:p>
        </p:txBody>
      </p:sp>
      <p:sp>
        <p:nvSpPr>
          <p:cNvPr id="68" name="Google Shape;68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69" name="Google Shape;69;p15"/>
          <p:cNvSpPr txBox="1"/>
          <p:nvPr/>
        </p:nvSpPr>
        <p:spPr>
          <a:xfrm>
            <a:off x="219150" y="951000"/>
            <a:ext cx="6906600" cy="31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800">
                <a:solidFill>
                  <a:srgbClr val="0F1115"/>
                </a:solidFill>
                <a:highlight>
                  <a:srgbClr val="FFFFFF"/>
                </a:highlight>
              </a:rPr>
              <a:t>React и управление состоянием</a:t>
            </a:r>
            <a:endParaRPr b="1" sz="1800">
              <a:solidFill>
                <a:srgbClr val="0F1115"/>
              </a:solidFill>
              <a:highlight>
                <a:srgbClr val="FFFFFF"/>
              </a:highlight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ru" sz="1800">
                <a:solidFill>
                  <a:srgbClr val="0F1115"/>
                </a:solidFill>
                <a:highlight>
                  <a:srgbClr val="FFFFFF"/>
                </a:highlight>
              </a:rPr>
            </a:br>
            <a:r>
              <a:rPr lang="ru" sz="1800">
                <a:solidFill>
                  <a:srgbClr val="0F1115"/>
                </a:solidFill>
                <a:highlight>
                  <a:srgbClr val="FFFFFF"/>
                </a:highlight>
              </a:rPr>
              <a:t>✅ React компоненты (функциональные, </a:t>
            </a:r>
            <a:r>
              <a:rPr lang="ru" sz="1800" strike="sngStrike">
                <a:solidFill>
                  <a:srgbClr val="0F1115"/>
                </a:solidFill>
                <a:highlight>
                  <a:srgbClr val="FFFFFF"/>
                </a:highlight>
              </a:rPr>
              <a:t>классовые</a:t>
            </a:r>
            <a:r>
              <a:rPr lang="ru" sz="1800">
                <a:solidFill>
                  <a:srgbClr val="0F1115"/>
                </a:solidFill>
                <a:highlight>
                  <a:srgbClr val="FFFFFF"/>
                </a:highlight>
              </a:rPr>
              <a:t>)</a:t>
            </a:r>
            <a:endParaRPr sz="1800">
              <a:solidFill>
                <a:srgbClr val="0F1115"/>
              </a:solidFill>
              <a:highlight>
                <a:srgbClr val="FFFFFF"/>
              </a:highlight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F1115"/>
              </a:solidFill>
              <a:highlight>
                <a:srgbClr val="FFFFFF"/>
              </a:highlight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0F1115"/>
                </a:solidFill>
                <a:highlight>
                  <a:srgbClr val="FFFFFF"/>
                </a:highlight>
              </a:rPr>
              <a:t>✅ Хуки (useState, useEffect, useContext, </a:t>
            </a:r>
            <a:r>
              <a:rPr lang="ru" sz="1800" strike="sngStrike">
                <a:solidFill>
                  <a:srgbClr val="0F1115"/>
                </a:solidFill>
                <a:highlight>
                  <a:srgbClr val="FFFFFF"/>
                </a:highlight>
              </a:rPr>
              <a:t>useReducer</a:t>
            </a:r>
            <a:r>
              <a:rPr lang="ru" sz="1800">
                <a:solidFill>
                  <a:srgbClr val="0F1115"/>
                </a:solidFill>
                <a:highlight>
                  <a:srgbClr val="FFFFFF"/>
                </a:highlight>
              </a:rPr>
              <a:t>)</a:t>
            </a:r>
            <a:endParaRPr sz="1800">
              <a:solidFill>
                <a:srgbClr val="0F1115"/>
              </a:solidFill>
              <a:highlight>
                <a:srgbClr val="FFFFFF"/>
              </a:highlight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F1115"/>
              </a:solidFill>
              <a:highlight>
                <a:srgbClr val="FFFFFF"/>
              </a:highlight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0F1115"/>
                </a:solidFill>
                <a:highlight>
                  <a:srgbClr val="FFFFFF"/>
                </a:highlight>
              </a:rPr>
              <a:t>✅ Управление состоянием (Context API, подъем состояния)</a:t>
            </a:r>
            <a:endParaRPr sz="1800">
              <a:solidFill>
                <a:srgbClr val="0F1115"/>
              </a:solidFill>
              <a:highlight>
                <a:srgbClr val="FFFFFF"/>
              </a:highlight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F1115"/>
              </a:solidFill>
              <a:highlight>
                <a:srgbClr val="FFFFFF"/>
              </a:highlight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0F1115"/>
                </a:solidFill>
                <a:highlight>
                  <a:srgbClr val="FFFFFF"/>
                </a:highlight>
              </a:rPr>
              <a:t>✅ Работа с формами и событиями</a:t>
            </a:r>
            <a:endParaRPr sz="1800">
              <a:solidFill>
                <a:srgbClr val="0F1115"/>
              </a:solidFill>
              <a:highlight>
                <a:srgbClr val="FFFFFF"/>
              </a:highlight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1065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Что мы изучили за курс</a:t>
            </a:r>
            <a:endParaRPr/>
          </a:p>
        </p:txBody>
      </p:sp>
      <p:sp>
        <p:nvSpPr>
          <p:cNvPr id="75" name="Google Shape;75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76" name="Google Shape;76;p16"/>
          <p:cNvSpPr txBox="1"/>
          <p:nvPr/>
        </p:nvSpPr>
        <p:spPr>
          <a:xfrm>
            <a:off x="219150" y="951000"/>
            <a:ext cx="6906600" cy="28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800">
                <a:solidFill>
                  <a:srgbClr val="0F1115"/>
                </a:solidFill>
                <a:highlight>
                  <a:srgbClr val="FFFFFF"/>
                </a:highlight>
              </a:rPr>
              <a:t>Продвинутые темы</a:t>
            </a:r>
            <a:endParaRPr b="1" sz="1800">
              <a:solidFill>
                <a:srgbClr val="0F1115"/>
              </a:solidFill>
              <a:highlight>
                <a:srgbClr val="FFFFFF"/>
              </a:highlight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ru" sz="1800">
                <a:solidFill>
                  <a:srgbClr val="0F1115"/>
                </a:solidFill>
                <a:highlight>
                  <a:srgbClr val="FFFFFF"/>
                </a:highlight>
              </a:rPr>
            </a:br>
            <a:r>
              <a:rPr lang="ru" sz="1800">
                <a:solidFill>
                  <a:srgbClr val="0F1115"/>
                </a:solidFill>
                <a:highlight>
                  <a:srgbClr val="FFFFFF"/>
                </a:highlight>
              </a:rPr>
              <a:t>✅ Роутинг (React Router)</a:t>
            </a:r>
            <a:endParaRPr sz="1800">
              <a:solidFill>
                <a:srgbClr val="0F1115"/>
              </a:solidFill>
              <a:highlight>
                <a:srgbClr val="FFFFFF"/>
              </a:highlight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F1115"/>
              </a:solidFill>
              <a:highlight>
                <a:srgbClr val="FFFFFF"/>
              </a:highlight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0F1115"/>
                </a:solidFill>
                <a:highlight>
                  <a:srgbClr val="FFFFFF"/>
                </a:highlight>
              </a:rPr>
              <a:t>✅ Оптимизация (memo, useMemo, useCallback)</a:t>
            </a:r>
            <a:endParaRPr sz="1800">
              <a:solidFill>
                <a:srgbClr val="0F1115"/>
              </a:solidFill>
              <a:highlight>
                <a:srgbClr val="FFFFFF"/>
              </a:highlight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F1115"/>
              </a:solidFill>
              <a:highlight>
                <a:srgbClr val="FFFFFF"/>
              </a:highlight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0F1115"/>
                </a:solidFill>
                <a:highlight>
                  <a:srgbClr val="FFFFFF"/>
                </a:highlight>
              </a:rPr>
              <a:t>✅ </a:t>
            </a:r>
            <a:r>
              <a:rPr lang="ru" sz="1800" strike="sngStrike">
                <a:solidFill>
                  <a:srgbClr val="0F1115"/>
                </a:solidFill>
                <a:highlight>
                  <a:srgbClr val="FFFFFF"/>
                </a:highlight>
              </a:rPr>
              <a:t>Code splitting и lazy loading</a:t>
            </a:r>
            <a:endParaRPr sz="1800" strike="sngStrike">
              <a:solidFill>
                <a:srgbClr val="0F1115"/>
              </a:solidFill>
              <a:highlight>
                <a:srgbClr val="FFFFFF"/>
              </a:highlight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F1115"/>
              </a:solidFill>
              <a:highlight>
                <a:srgbClr val="FFFFFF"/>
              </a:highlight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0F1115"/>
                </a:solidFill>
                <a:highlight>
                  <a:srgbClr val="FFFFFF"/>
                </a:highlight>
              </a:rPr>
              <a:t>✅ Тестирование компонентов</a:t>
            </a:r>
            <a:endParaRPr sz="1800">
              <a:solidFill>
                <a:srgbClr val="0F1115"/>
              </a:solidFill>
              <a:highlight>
                <a:srgbClr val="FFFFFF"/>
              </a:highlight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type="title"/>
          </p:nvPr>
        </p:nvSpPr>
        <p:spPr>
          <a:xfrm>
            <a:off x="311700" y="1065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React как библиотека: что мы делали сами</a:t>
            </a:r>
            <a:endParaRPr/>
          </a:p>
        </p:txBody>
      </p:sp>
      <p:sp>
        <p:nvSpPr>
          <p:cNvPr id="82" name="Google Shape;82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83" name="Google Shape;83;p17"/>
          <p:cNvSpPr txBox="1"/>
          <p:nvPr/>
        </p:nvSpPr>
        <p:spPr>
          <a:xfrm>
            <a:off x="311700" y="844300"/>
            <a:ext cx="6906600" cy="28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0F1115"/>
                </a:solidFill>
                <a:highlight>
                  <a:srgbClr val="FFFFFF"/>
                </a:highlight>
              </a:rPr>
              <a:t>🔧 Роутинг — настраивали React Router</a:t>
            </a:r>
            <a:endParaRPr sz="1800">
              <a:solidFill>
                <a:srgbClr val="0F1115"/>
              </a:solidFill>
              <a:highlight>
                <a:srgbClr val="FFFFFF"/>
              </a:highlight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F1115"/>
              </a:solidFill>
              <a:highlight>
                <a:srgbClr val="FFFFFF"/>
              </a:highlight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0F1115"/>
                </a:solidFill>
                <a:highlight>
                  <a:srgbClr val="FFFFFF"/>
                </a:highlight>
              </a:rPr>
              <a:t>🎨 Стилизация — выбирали CSS Modules</a:t>
            </a:r>
            <a:r>
              <a:rPr lang="ru" sz="1800" strike="sngStrike">
                <a:solidFill>
                  <a:srgbClr val="0F1115"/>
                </a:solidFill>
                <a:highlight>
                  <a:srgbClr val="FFFFFF"/>
                </a:highlight>
              </a:rPr>
              <a:t>/Tailwind</a:t>
            </a:r>
            <a:endParaRPr sz="1800" strike="sngStrike">
              <a:solidFill>
                <a:srgbClr val="0F1115"/>
              </a:solidFill>
              <a:highlight>
                <a:srgbClr val="FFFFFF"/>
              </a:highlight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F1115"/>
              </a:solidFill>
              <a:highlight>
                <a:srgbClr val="FFFFFF"/>
              </a:highlight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0F1115"/>
                </a:solidFill>
                <a:highlight>
                  <a:srgbClr val="FFFFFF"/>
                </a:highlight>
              </a:rPr>
              <a:t>📦 Сборка — настраивали </a:t>
            </a:r>
            <a:r>
              <a:rPr lang="ru" sz="1800" strike="sngStrike">
                <a:solidFill>
                  <a:srgbClr val="0F1115"/>
                </a:solidFill>
                <a:highlight>
                  <a:srgbClr val="FFFFFF"/>
                </a:highlight>
              </a:rPr>
              <a:t>Webpack/</a:t>
            </a:r>
            <a:r>
              <a:rPr lang="ru" sz="1800">
                <a:solidFill>
                  <a:srgbClr val="0F1115"/>
                </a:solidFill>
                <a:highlight>
                  <a:srgbClr val="FFFFFF"/>
                </a:highlight>
              </a:rPr>
              <a:t>Vite</a:t>
            </a:r>
            <a:endParaRPr sz="1800">
              <a:solidFill>
                <a:srgbClr val="0F1115"/>
              </a:solidFill>
              <a:highlight>
                <a:srgbClr val="FFFFFF"/>
              </a:highlight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F1115"/>
              </a:solidFill>
              <a:highlight>
                <a:srgbClr val="FFFFFF"/>
              </a:highlight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0F1115"/>
                </a:solidFill>
                <a:highlight>
                  <a:srgbClr val="FFFFFF"/>
                </a:highlight>
              </a:rPr>
              <a:t>🔌 API взаимодействие — писали свои хуки для fetch</a:t>
            </a:r>
            <a:endParaRPr sz="1800">
              <a:solidFill>
                <a:srgbClr val="0F1115"/>
              </a:solidFill>
              <a:highlight>
                <a:srgbClr val="FFFFFF"/>
              </a:highlight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F1115"/>
              </a:solidFill>
              <a:highlight>
                <a:srgbClr val="FFFFFF"/>
              </a:highlight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0F1115"/>
                </a:solidFill>
                <a:highlight>
                  <a:srgbClr val="FFFFFF"/>
                </a:highlight>
              </a:rPr>
              <a:t>🏗️ Архитектура — проектировали структуру приложения</a:t>
            </a:r>
            <a:endParaRPr sz="1800">
              <a:solidFill>
                <a:srgbClr val="0F1115"/>
              </a:solidFill>
              <a:highlight>
                <a:srgbClr val="FFFFFF"/>
              </a:highlight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4" name="Google Shape;84;p17"/>
          <p:cNvSpPr txBox="1"/>
          <p:nvPr/>
        </p:nvSpPr>
        <p:spPr>
          <a:xfrm>
            <a:off x="311700" y="3840575"/>
            <a:ext cx="6906600" cy="9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0F1115"/>
                </a:solidFill>
                <a:highlight>
                  <a:srgbClr val="FFFFFF"/>
                </a:highlight>
              </a:rPr>
              <a:t>Наш стек для React SPA:</a:t>
            </a:r>
            <a:endParaRPr sz="1800">
              <a:solidFill>
                <a:srgbClr val="0F1115"/>
              </a:solidFill>
              <a:highlight>
                <a:srgbClr val="FFFFFF"/>
              </a:highlight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F1115"/>
              </a:solidFill>
              <a:highlight>
                <a:srgbClr val="FFFFFF"/>
              </a:highlight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React + React Router + Vite</a:t>
            </a:r>
            <a:r>
              <a:rPr lang="ru" sz="1300" strike="sngStrike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/Webpack</a:t>
            </a:r>
            <a:r>
              <a:rPr lang="ru" sz="13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+ CSS Modules + fetch</a:t>
            </a:r>
            <a:r>
              <a:rPr lang="ru" sz="1300" strike="sngStrike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/axios</a:t>
            </a:r>
            <a:endParaRPr sz="12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/>
          <p:nvPr>
            <p:ph type="title"/>
          </p:nvPr>
        </p:nvSpPr>
        <p:spPr>
          <a:xfrm>
            <a:off x="311700" y="1065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Зачем нужны фреймворки?</a:t>
            </a:r>
            <a:endParaRPr/>
          </a:p>
        </p:txBody>
      </p:sp>
      <p:sp>
        <p:nvSpPr>
          <p:cNvPr id="90" name="Google Shape;90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91" name="Google Shape;91;p18"/>
          <p:cNvSpPr txBox="1"/>
          <p:nvPr/>
        </p:nvSpPr>
        <p:spPr>
          <a:xfrm>
            <a:off x="311700" y="844300"/>
            <a:ext cx="6906600" cy="341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0F1115"/>
                </a:solidFill>
                <a:highlight>
                  <a:srgbClr val="FFFFFF"/>
                </a:highlight>
              </a:rPr>
              <a:t>Библиотека (React):</a:t>
            </a:r>
            <a:endParaRPr sz="1800">
              <a:solidFill>
                <a:srgbClr val="0F1115"/>
              </a:solidFill>
              <a:highlight>
                <a:srgbClr val="FFFFFF"/>
              </a:highlight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0F1115"/>
                </a:solidFill>
                <a:highlight>
                  <a:srgbClr val="FFFFFF"/>
                </a:highlight>
              </a:rPr>
              <a:t>- Вы вызываете код библиотеки</a:t>
            </a:r>
            <a:endParaRPr sz="1800">
              <a:solidFill>
                <a:srgbClr val="0F1115"/>
              </a:solidFill>
              <a:highlight>
                <a:srgbClr val="FFFFFF"/>
              </a:highlight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0F1115"/>
                </a:solidFill>
                <a:highlight>
                  <a:srgbClr val="FFFFFF"/>
                </a:highlight>
              </a:rPr>
              <a:t>- Контролируете поток выполнения</a:t>
            </a:r>
            <a:endParaRPr sz="1800">
              <a:solidFill>
                <a:srgbClr val="0F1115"/>
              </a:solidFill>
              <a:highlight>
                <a:srgbClr val="FFFFFF"/>
              </a:highlight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0F1115"/>
                </a:solidFill>
                <a:highlight>
                  <a:srgbClr val="FFFFFF"/>
                </a:highlight>
              </a:rPr>
              <a:t>- Собираете решение из частей</a:t>
            </a:r>
            <a:endParaRPr sz="1800">
              <a:solidFill>
                <a:srgbClr val="0F1115"/>
              </a:solidFill>
              <a:highlight>
                <a:srgbClr val="FFFFFF"/>
              </a:highlight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0F1115"/>
                </a:solidFill>
                <a:highlight>
                  <a:srgbClr val="FFFFFF"/>
                </a:highlight>
              </a:rPr>
              <a:t>- Гибкость, но больше ответственности</a:t>
            </a:r>
            <a:endParaRPr sz="1800">
              <a:solidFill>
                <a:srgbClr val="0F1115"/>
              </a:solidFill>
              <a:highlight>
                <a:srgbClr val="FFFFFF"/>
              </a:highlight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F1115"/>
              </a:solidFill>
              <a:highlight>
                <a:srgbClr val="FFFFFF"/>
              </a:highlight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0F1115"/>
                </a:solidFill>
                <a:highlight>
                  <a:srgbClr val="FFFFFF"/>
                </a:highlight>
              </a:rPr>
              <a:t>Фреймворк (ex. Next.js):</a:t>
            </a:r>
            <a:endParaRPr sz="1800">
              <a:solidFill>
                <a:srgbClr val="0F1115"/>
              </a:solidFill>
              <a:highlight>
                <a:srgbClr val="FFFFFF"/>
              </a:highlight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0F1115"/>
                </a:solidFill>
                <a:highlight>
                  <a:srgbClr val="FFFFFF"/>
                </a:highlight>
              </a:rPr>
              <a:t>- Фреймворк вызывает ваш код</a:t>
            </a:r>
            <a:endParaRPr sz="1800">
              <a:solidFill>
                <a:srgbClr val="0F1115"/>
              </a:solidFill>
              <a:highlight>
                <a:srgbClr val="FFFFFF"/>
              </a:highlight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0F1115"/>
                </a:solidFill>
                <a:highlight>
                  <a:srgbClr val="FFFFFF"/>
                </a:highlight>
              </a:rPr>
              <a:t>- Определенная архитектура</a:t>
            </a:r>
            <a:endParaRPr sz="1800">
              <a:solidFill>
                <a:srgbClr val="0F1115"/>
              </a:solidFill>
              <a:highlight>
                <a:srgbClr val="FFFFFF"/>
              </a:highlight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0F1115"/>
                </a:solidFill>
                <a:highlight>
                  <a:srgbClr val="FFFFFF"/>
                </a:highlight>
              </a:rPr>
              <a:t>- Готовые решения для общих задач</a:t>
            </a:r>
            <a:endParaRPr sz="1800">
              <a:solidFill>
                <a:srgbClr val="0F1115"/>
              </a:solidFill>
              <a:highlight>
                <a:srgbClr val="FFFFFF"/>
              </a:highlight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0F1115"/>
                </a:solidFill>
                <a:highlight>
                  <a:srgbClr val="FFFFFF"/>
                </a:highlight>
              </a:rPr>
              <a:t>- Меньше гибкости, больше готового</a:t>
            </a:r>
            <a:endParaRPr sz="1800">
              <a:solidFill>
                <a:srgbClr val="0F1115"/>
              </a:solidFill>
              <a:highlight>
                <a:srgbClr val="FFFFFF"/>
              </a:highlight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/>
          <p:nvPr>
            <p:ph type="title"/>
          </p:nvPr>
        </p:nvSpPr>
        <p:spPr>
          <a:xfrm>
            <a:off x="311700" y="1065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React Router как микро-фреймворк</a:t>
            </a:r>
            <a:endParaRPr/>
          </a:p>
        </p:txBody>
      </p:sp>
      <p:sp>
        <p:nvSpPr>
          <p:cNvPr id="97" name="Google Shape;97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98" name="Google Shape;98;p19"/>
          <p:cNvSpPr txBox="1"/>
          <p:nvPr/>
        </p:nvSpPr>
        <p:spPr>
          <a:xfrm>
            <a:off x="311700" y="844300"/>
            <a:ext cx="6906600" cy="28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0F1115"/>
                </a:solidFill>
                <a:highlight>
                  <a:srgbClr val="FFFFFF"/>
                </a:highlight>
              </a:rPr>
              <a:t>🗺️ Роутинг — декларативная навигация</a:t>
            </a:r>
            <a:endParaRPr sz="1800">
              <a:solidFill>
                <a:srgbClr val="0F1115"/>
              </a:solidFill>
              <a:highlight>
                <a:srgbClr val="FFFFFF"/>
              </a:highlight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F1115"/>
              </a:solidFill>
              <a:highlight>
                <a:srgbClr val="FFFFFF"/>
              </a:highlight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0F1115"/>
                </a:solidFill>
                <a:highlight>
                  <a:srgbClr val="FFFFFF"/>
                </a:highlight>
              </a:rPr>
              <a:t>📊 Data loading — loaders для данных</a:t>
            </a:r>
            <a:endParaRPr sz="1800">
              <a:solidFill>
                <a:srgbClr val="0F1115"/>
              </a:solidFill>
              <a:highlight>
                <a:srgbClr val="FFFFFF"/>
              </a:highlight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F1115"/>
              </a:solidFill>
              <a:highlight>
                <a:srgbClr val="FFFFFF"/>
              </a:highlight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0F1115"/>
                </a:solidFill>
                <a:highlight>
                  <a:srgbClr val="FFFFFF"/>
                </a:highlight>
              </a:rPr>
              <a:t>✍️ Form handling — actions для форм</a:t>
            </a:r>
            <a:endParaRPr sz="1800">
              <a:solidFill>
                <a:srgbClr val="0F1115"/>
              </a:solidFill>
              <a:highlight>
                <a:srgbClr val="FFFFFF"/>
              </a:highlight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F1115"/>
              </a:solidFill>
              <a:highlight>
                <a:srgbClr val="FFFFFF"/>
              </a:highlight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0F1115"/>
                </a:solidFill>
                <a:highlight>
                  <a:srgbClr val="FFFFFF"/>
                </a:highlight>
              </a:rPr>
              <a:t>🛡️ Auth protection — защита маршрутов</a:t>
            </a:r>
            <a:endParaRPr sz="1800">
              <a:solidFill>
                <a:srgbClr val="0F1115"/>
              </a:solidFill>
              <a:highlight>
                <a:srgbClr val="FFFFFF"/>
              </a:highlight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F1115"/>
              </a:solidFill>
              <a:highlight>
                <a:srgbClr val="FFFFFF"/>
              </a:highlight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0F1115"/>
                </a:solidFill>
                <a:highlight>
                  <a:srgbClr val="FFFFFF"/>
                </a:highlight>
              </a:rPr>
              <a:t>🏗️ Nested layouts — вложенные структуры</a:t>
            </a:r>
            <a:endParaRPr sz="1800">
              <a:solidFill>
                <a:srgbClr val="0F1115"/>
              </a:solidFill>
              <a:highlight>
                <a:srgbClr val="FFFFFF"/>
              </a:highlight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0"/>
          <p:cNvSpPr txBox="1"/>
          <p:nvPr>
            <p:ph type="title"/>
          </p:nvPr>
        </p:nvSpPr>
        <p:spPr>
          <a:xfrm>
            <a:off x="311700" y="1065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Next.js - полноценный React фреймворк</a:t>
            </a:r>
            <a:endParaRPr/>
          </a:p>
        </p:txBody>
      </p:sp>
      <p:sp>
        <p:nvSpPr>
          <p:cNvPr id="104" name="Google Shape;104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105" name="Google Shape;105;p20"/>
          <p:cNvSpPr txBox="1"/>
          <p:nvPr/>
        </p:nvSpPr>
        <p:spPr>
          <a:xfrm>
            <a:off x="311700" y="844300"/>
            <a:ext cx="6906600" cy="341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0F1115"/>
                </a:solidFill>
                <a:highlight>
                  <a:srgbClr val="FFFFFF"/>
                </a:highlight>
              </a:rPr>
              <a:t>🌐 Рендеринг — SSR, SSG, ISR, CSR</a:t>
            </a:r>
            <a:endParaRPr sz="1800">
              <a:solidFill>
                <a:srgbClr val="0F1115"/>
              </a:solidFill>
              <a:highlight>
                <a:srgbClr val="FFFFFF"/>
              </a:highlight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F1115"/>
              </a:solidFill>
              <a:highlight>
                <a:srgbClr val="FFFFFF"/>
              </a:highlight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0F1115"/>
                </a:solidFill>
                <a:highlight>
                  <a:srgbClr val="FFFFFF"/>
                </a:highlight>
              </a:rPr>
              <a:t>🗂️ Роутинг — file-based routing</a:t>
            </a:r>
            <a:endParaRPr sz="1800">
              <a:solidFill>
                <a:srgbClr val="0F1115"/>
              </a:solidFill>
              <a:highlight>
                <a:srgbClr val="FFFFFF"/>
              </a:highlight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F1115"/>
              </a:solidFill>
              <a:highlight>
                <a:srgbClr val="FFFFFF"/>
              </a:highlight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0F1115"/>
                </a:solidFill>
                <a:highlight>
                  <a:srgbClr val="FFFFFF"/>
                </a:highlight>
              </a:rPr>
              <a:t>⚡ Оптимизация — изображения, шрифты, скрипты</a:t>
            </a:r>
            <a:endParaRPr sz="1800">
              <a:solidFill>
                <a:srgbClr val="0F1115"/>
              </a:solidFill>
              <a:highlight>
                <a:srgbClr val="FFFFFF"/>
              </a:highlight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F1115"/>
              </a:solidFill>
              <a:highlight>
                <a:srgbClr val="FFFFFF"/>
              </a:highlight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0F1115"/>
                </a:solidFill>
                <a:highlight>
                  <a:srgbClr val="FFFFFF"/>
                </a:highlight>
              </a:rPr>
              <a:t>🔌 API Routes — бэкенд в том же проекте</a:t>
            </a:r>
            <a:endParaRPr sz="1800">
              <a:solidFill>
                <a:srgbClr val="0F1115"/>
              </a:solidFill>
              <a:highlight>
                <a:srgbClr val="FFFFFF"/>
              </a:highlight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F1115"/>
              </a:solidFill>
              <a:highlight>
                <a:srgbClr val="FFFFFF"/>
              </a:highlight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0F1115"/>
                </a:solidFill>
                <a:highlight>
                  <a:srgbClr val="FFFFFF"/>
                </a:highlight>
              </a:rPr>
              <a:t>🎨 Стилизация — поддержка всех методов</a:t>
            </a:r>
            <a:endParaRPr sz="1800">
              <a:solidFill>
                <a:srgbClr val="0F1115"/>
              </a:solidFill>
              <a:highlight>
                <a:srgbClr val="FFFFFF"/>
              </a:highlight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F1115"/>
              </a:solidFill>
              <a:highlight>
                <a:srgbClr val="FFFFFF"/>
              </a:highlight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0F1115"/>
                </a:solidFill>
                <a:highlight>
                  <a:srgbClr val="FFFFFF"/>
                </a:highlight>
              </a:rPr>
              <a:t>📦 Сборка — оптимизированный Webpack</a:t>
            </a:r>
            <a:endParaRPr sz="1800">
              <a:solidFill>
                <a:srgbClr val="0F1115"/>
              </a:solidFill>
              <a:highlight>
                <a:srgbClr val="FFFFFF"/>
              </a:highlight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6" name="Google Shape;106;p20"/>
          <p:cNvSpPr txBox="1"/>
          <p:nvPr/>
        </p:nvSpPr>
        <p:spPr>
          <a:xfrm>
            <a:off x="466875" y="4335250"/>
            <a:ext cx="75234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npx create-next-app@latest my-app </a:t>
            </a:r>
            <a:r>
              <a:rPr lang="ru" sz="13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--typescript</a:t>
            </a:r>
            <a:r>
              <a:rPr lang="ru" sz="13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3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--tailwind</a:t>
            </a:r>
            <a:r>
              <a:rPr lang="ru" sz="13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3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--eslint</a:t>
            </a:r>
            <a:endParaRPr sz="1300">
              <a:solidFill>
                <a:srgbClr val="4078F2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1"/>
          <p:cNvSpPr txBox="1"/>
          <p:nvPr>
            <p:ph type="title"/>
          </p:nvPr>
        </p:nvSpPr>
        <p:spPr>
          <a:xfrm>
            <a:off x="311700" y="1065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React Native - мобильные приложения</a:t>
            </a:r>
            <a:endParaRPr/>
          </a:p>
        </p:txBody>
      </p:sp>
      <p:sp>
        <p:nvSpPr>
          <p:cNvPr id="112" name="Google Shape;112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113" name="Google Shape;113;p21"/>
          <p:cNvSpPr txBox="1"/>
          <p:nvPr/>
        </p:nvSpPr>
        <p:spPr>
          <a:xfrm>
            <a:off x="225000" y="644225"/>
            <a:ext cx="6906600" cy="36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0F1115"/>
                </a:solidFill>
                <a:highlight>
                  <a:srgbClr val="FFFFFF"/>
                </a:highlight>
              </a:rPr>
              <a:t>Два варианта: react-native or Expo framework</a:t>
            </a:r>
            <a:endParaRPr sz="1800">
              <a:solidFill>
                <a:srgbClr val="0F1115"/>
              </a:solidFill>
              <a:highlight>
                <a:srgbClr val="FFFFFF"/>
              </a:highlight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F1115"/>
              </a:solidFill>
              <a:highlight>
                <a:srgbClr val="FFFFFF"/>
              </a:highlight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0F1115"/>
                </a:solidFill>
                <a:highlight>
                  <a:srgbClr val="FFFFFF"/>
                </a:highlight>
              </a:rPr>
              <a:t>📱 Кроссплатформенность — один код для iOS и Android</a:t>
            </a:r>
            <a:endParaRPr sz="1800">
              <a:solidFill>
                <a:srgbClr val="0F1115"/>
              </a:solidFill>
              <a:highlight>
                <a:srgbClr val="FFFFFF"/>
              </a:highlight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F1115"/>
              </a:solidFill>
              <a:highlight>
                <a:srgbClr val="FFFFFF"/>
              </a:highlight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0F1115"/>
                </a:solidFill>
                <a:highlight>
                  <a:srgbClr val="FFFFFF"/>
                </a:highlight>
              </a:rPr>
              <a:t>⚛️ React знания — те же принципы, что и в вебе</a:t>
            </a:r>
            <a:endParaRPr sz="1800">
              <a:solidFill>
                <a:srgbClr val="0F1115"/>
              </a:solidFill>
              <a:highlight>
                <a:srgbClr val="FFFFFF"/>
              </a:highlight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F1115"/>
              </a:solidFill>
              <a:highlight>
                <a:srgbClr val="FFFFFF"/>
              </a:highlight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0F1115"/>
                </a:solidFill>
                <a:highlight>
                  <a:srgbClr val="FFFFFF"/>
                </a:highlight>
              </a:rPr>
              <a:t>🔧 Нативные компоненты — не WebView, а реальные нативные views</a:t>
            </a:r>
            <a:endParaRPr sz="1800">
              <a:solidFill>
                <a:srgbClr val="0F1115"/>
              </a:solidFill>
              <a:highlight>
                <a:srgbClr val="FFFFFF"/>
              </a:highlight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F1115"/>
              </a:solidFill>
              <a:highlight>
                <a:srgbClr val="FFFFFF"/>
              </a:highlight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0F1115"/>
                </a:solidFill>
                <a:highlight>
                  <a:srgbClr val="FFFFFF"/>
                </a:highlight>
              </a:rPr>
              <a:t>🚀 Производительность — близко к нативной</a:t>
            </a:r>
            <a:br>
              <a:rPr lang="ru" sz="1800">
                <a:solidFill>
                  <a:srgbClr val="0F1115"/>
                </a:solidFill>
                <a:highlight>
                  <a:srgbClr val="FFFFFF"/>
                </a:highlight>
              </a:rPr>
            </a:br>
            <a:br>
              <a:rPr lang="ru" sz="1800">
                <a:solidFill>
                  <a:srgbClr val="0F1115"/>
                </a:solidFill>
                <a:highlight>
                  <a:srgbClr val="FFFFFF"/>
                </a:highlight>
              </a:rPr>
            </a:br>
            <a:r>
              <a:rPr lang="ru" sz="1800">
                <a:solidFill>
                  <a:srgbClr val="0F1115"/>
                </a:solidFill>
                <a:highlight>
                  <a:srgbClr val="FFFFFF"/>
                </a:highlight>
              </a:rPr>
              <a:t>https://reactnative.dev/docs/environment-setup</a:t>
            </a:r>
            <a:endParaRPr sz="1800">
              <a:solidFill>
                <a:srgbClr val="0F1115"/>
              </a:solidFill>
              <a:highlight>
                <a:srgbClr val="FFFFFF"/>
              </a:highlight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14" name="Google Shape;11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8675" y="4111925"/>
            <a:ext cx="4723750" cy="904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2"/>
          <p:cNvSpPr txBox="1"/>
          <p:nvPr>
            <p:ph type="title"/>
          </p:nvPr>
        </p:nvSpPr>
        <p:spPr>
          <a:xfrm>
            <a:off x="311700" y="1065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Сборка фронтенда - что у нас получается?</a:t>
            </a:r>
            <a:endParaRPr/>
          </a:p>
        </p:txBody>
      </p:sp>
      <p:sp>
        <p:nvSpPr>
          <p:cNvPr id="120" name="Google Shape;120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121" name="Google Shape;121;p22"/>
          <p:cNvSpPr txBox="1"/>
          <p:nvPr/>
        </p:nvSpPr>
        <p:spPr>
          <a:xfrm>
            <a:off x="225000" y="644225"/>
            <a:ext cx="80145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0F1115"/>
                </a:solidFill>
                <a:highlight>
                  <a:srgbClr val="FFFFFF"/>
                </a:highlight>
              </a:rPr>
              <a:t>Исходный код → Транспиляция → Бандлинг → Минификация → Выходные файлы</a:t>
            </a:r>
            <a:endParaRPr sz="1800">
              <a:solidFill>
                <a:srgbClr val="0F1115"/>
              </a:solidFill>
              <a:highlight>
                <a:srgbClr val="FFFFFF"/>
              </a:highlight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2" name="Google Shape;122;p22"/>
          <p:cNvSpPr txBox="1"/>
          <p:nvPr/>
        </p:nvSpPr>
        <p:spPr>
          <a:xfrm>
            <a:off x="448950" y="1663725"/>
            <a:ext cx="300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solidFill>
                  <a:srgbClr val="0F1115"/>
                </a:solidFill>
                <a:highlight>
                  <a:srgbClr val="FFFFFF"/>
                </a:highlight>
              </a:rPr>
              <a:t>Что входит в билд:</a:t>
            </a:r>
            <a:endParaRPr sz="1800"/>
          </a:p>
        </p:txBody>
      </p:sp>
      <p:sp>
        <p:nvSpPr>
          <p:cNvPr id="123" name="Google Shape;123;p22"/>
          <p:cNvSpPr txBox="1"/>
          <p:nvPr/>
        </p:nvSpPr>
        <p:spPr>
          <a:xfrm>
            <a:off x="448950" y="2247975"/>
            <a:ext cx="6813300" cy="173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F1115"/>
              </a:buClr>
              <a:buSzPts val="1800"/>
              <a:buFont typeface="Arial"/>
              <a:buChar char="●"/>
            </a:pPr>
            <a:r>
              <a:rPr lang="ru" sz="1800">
                <a:solidFill>
                  <a:srgbClr val="0F1115"/>
                </a:solidFill>
                <a:highlight>
                  <a:srgbClr val="FFFFFF"/>
                </a:highlight>
              </a:rPr>
              <a:t>HTML — разметка (в SSR или index.html для SPA)</a:t>
            </a:r>
            <a:endParaRPr sz="1800">
              <a:solidFill>
                <a:srgbClr val="0F1115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800"/>
              <a:buFont typeface="Arial"/>
              <a:buChar char="●"/>
            </a:pPr>
            <a:r>
              <a:rPr lang="ru" sz="1800">
                <a:solidFill>
                  <a:srgbClr val="0F1115"/>
                </a:solidFill>
                <a:highlight>
                  <a:srgbClr val="FFFFFF"/>
                </a:highlight>
              </a:rPr>
              <a:t>JavaScript — основной код приложения</a:t>
            </a:r>
            <a:endParaRPr sz="1800">
              <a:solidFill>
                <a:srgbClr val="0F1115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800"/>
              <a:buFont typeface="Arial"/>
              <a:buChar char="●"/>
            </a:pPr>
            <a:r>
              <a:rPr lang="ru" sz="1800">
                <a:solidFill>
                  <a:srgbClr val="0F1115"/>
                </a:solidFill>
                <a:highlight>
                  <a:srgbClr val="FFFFFF"/>
                </a:highlight>
              </a:rPr>
              <a:t>CSS — стили (в отдельном файле или в JS)</a:t>
            </a:r>
            <a:endParaRPr sz="1800">
              <a:solidFill>
                <a:srgbClr val="0F1115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800"/>
              <a:buFont typeface="Arial"/>
              <a:buChar char="●"/>
            </a:pPr>
            <a:r>
              <a:rPr lang="ru" sz="1800">
                <a:solidFill>
                  <a:srgbClr val="0F1115"/>
                </a:solidFill>
                <a:highlight>
                  <a:srgbClr val="FFFFFF"/>
                </a:highlight>
              </a:rPr>
              <a:t>Assets — изображения, шрифты, иконки</a:t>
            </a:r>
            <a:endParaRPr sz="1800">
              <a:solidFill>
                <a:srgbClr val="0F1115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800"/>
              <a:buFont typeface="Arial"/>
              <a:buChar char="●"/>
            </a:pPr>
            <a:r>
              <a:rPr lang="ru" sz="1800">
                <a:solidFill>
                  <a:srgbClr val="0F1115"/>
                </a:solidFill>
                <a:highlight>
                  <a:srgbClr val="FFFFFF"/>
                </a:highlight>
              </a:rPr>
              <a:t>Source maps — для отладки</a:t>
            </a:r>
            <a:endParaRPr sz="1800">
              <a:solidFill>
                <a:srgbClr val="0F1115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3"/>
          <p:cNvSpPr txBox="1"/>
          <p:nvPr>
            <p:ph type="title"/>
          </p:nvPr>
        </p:nvSpPr>
        <p:spPr>
          <a:xfrm>
            <a:off x="311700" y="1065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Сборка фронтенда - что у нас получается?</a:t>
            </a:r>
            <a:endParaRPr/>
          </a:p>
        </p:txBody>
      </p:sp>
      <p:sp>
        <p:nvSpPr>
          <p:cNvPr id="129" name="Google Shape;129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130" name="Google Shape;130;p23"/>
          <p:cNvSpPr txBox="1"/>
          <p:nvPr/>
        </p:nvSpPr>
        <p:spPr>
          <a:xfrm>
            <a:off x="225000" y="644225"/>
            <a:ext cx="80145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0F1115"/>
                </a:solidFill>
                <a:highlight>
                  <a:srgbClr val="FFFFFF"/>
                </a:highlight>
              </a:rPr>
              <a:t>Исходный код → Транспиляция → Бандлинг → Минификация → Выходные файлы</a:t>
            </a:r>
            <a:endParaRPr sz="1800">
              <a:solidFill>
                <a:srgbClr val="0F1115"/>
              </a:solidFill>
              <a:highlight>
                <a:srgbClr val="FFFFFF"/>
              </a:highlight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1" name="Google Shape;131;p23"/>
          <p:cNvSpPr txBox="1"/>
          <p:nvPr/>
        </p:nvSpPr>
        <p:spPr>
          <a:xfrm>
            <a:off x="448950" y="1663725"/>
            <a:ext cx="300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solidFill>
                  <a:srgbClr val="0F1115"/>
                </a:solidFill>
                <a:highlight>
                  <a:srgbClr val="FFFFFF"/>
                </a:highlight>
              </a:rPr>
              <a:t>Что входит в билд:</a:t>
            </a:r>
            <a:endParaRPr sz="1800"/>
          </a:p>
        </p:txBody>
      </p:sp>
      <p:sp>
        <p:nvSpPr>
          <p:cNvPr id="132" name="Google Shape;132;p23"/>
          <p:cNvSpPr txBox="1"/>
          <p:nvPr/>
        </p:nvSpPr>
        <p:spPr>
          <a:xfrm>
            <a:off x="448950" y="2247975"/>
            <a:ext cx="6813300" cy="173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F1115"/>
              </a:buClr>
              <a:buSzPts val="1800"/>
              <a:buFont typeface="Arial"/>
              <a:buChar char="●"/>
            </a:pPr>
            <a:r>
              <a:rPr lang="ru" sz="1800">
                <a:solidFill>
                  <a:srgbClr val="0F1115"/>
                </a:solidFill>
                <a:highlight>
                  <a:srgbClr val="FFFFFF"/>
                </a:highlight>
              </a:rPr>
              <a:t>HTML — разметка (в SSR или index.html для SPA)</a:t>
            </a:r>
            <a:endParaRPr sz="1800">
              <a:solidFill>
                <a:srgbClr val="0F1115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800"/>
              <a:buFont typeface="Arial"/>
              <a:buChar char="●"/>
            </a:pPr>
            <a:r>
              <a:rPr lang="ru" sz="1800">
                <a:solidFill>
                  <a:srgbClr val="0F1115"/>
                </a:solidFill>
                <a:highlight>
                  <a:srgbClr val="FFFFFF"/>
                </a:highlight>
              </a:rPr>
              <a:t>JavaScript — основной код приложения</a:t>
            </a:r>
            <a:endParaRPr sz="1800">
              <a:solidFill>
                <a:srgbClr val="0F1115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800"/>
              <a:buFont typeface="Arial"/>
              <a:buChar char="●"/>
            </a:pPr>
            <a:r>
              <a:rPr lang="ru" sz="1800">
                <a:solidFill>
                  <a:srgbClr val="0F1115"/>
                </a:solidFill>
                <a:highlight>
                  <a:srgbClr val="FFFFFF"/>
                </a:highlight>
              </a:rPr>
              <a:t>CSS — стили (в отдельном файле или в JS)</a:t>
            </a:r>
            <a:endParaRPr sz="1800">
              <a:solidFill>
                <a:srgbClr val="0F1115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800"/>
              <a:buFont typeface="Arial"/>
              <a:buChar char="●"/>
            </a:pPr>
            <a:r>
              <a:rPr lang="ru" sz="1800">
                <a:solidFill>
                  <a:srgbClr val="0F1115"/>
                </a:solidFill>
                <a:highlight>
                  <a:srgbClr val="FFFFFF"/>
                </a:highlight>
              </a:rPr>
              <a:t>Assets — изображения, шрифты, иконки</a:t>
            </a:r>
            <a:endParaRPr sz="1800">
              <a:solidFill>
                <a:srgbClr val="0F1115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800"/>
              <a:buFont typeface="Arial"/>
              <a:buChar char="●"/>
            </a:pPr>
            <a:r>
              <a:rPr lang="ru" sz="1800">
                <a:solidFill>
                  <a:srgbClr val="0F1115"/>
                </a:solidFill>
                <a:highlight>
                  <a:srgbClr val="FFFFFF"/>
                </a:highlight>
              </a:rPr>
              <a:t>Source maps — для отладки</a:t>
            </a:r>
            <a:endParaRPr sz="1800">
              <a:solidFill>
                <a:srgbClr val="0F1115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4"/>
          <p:cNvSpPr txBox="1"/>
          <p:nvPr>
            <p:ph type="title"/>
          </p:nvPr>
        </p:nvSpPr>
        <p:spPr>
          <a:xfrm>
            <a:off x="311700" y="1065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Статический хостинг фронтенда</a:t>
            </a:r>
            <a:endParaRPr/>
          </a:p>
        </p:txBody>
      </p:sp>
      <p:sp>
        <p:nvSpPr>
          <p:cNvPr id="138" name="Google Shape;13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139" name="Google Shape;139;p24"/>
          <p:cNvSpPr txBox="1"/>
          <p:nvPr/>
        </p:nvSpPr>
        <p:spPr>
          <a:xfrm>
            <a:off x="258000" y="751875"/>
            <a:ext cx="3419400" cy="178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0F1115"/>
                </a:solidFill>
                <a:highlight>
                  <a:srgbClr val="FFFFFF"/>
                </a:highlight>
              </a:rPr>
              <a:t>1. Статические хостинги (для SPA):</a:t>
            </a:r>
            <a:br>
              <a:rPr lang="ru" sz="1800">
                <a:solidFill>
                  <a:srgbClr val="0F1115"/>
                </a:solidFill>
                <a:highlight>
                  <a:srgbClr val="FFFFFF"/>
                </a:highlight>
              </a:rPr>
            </a:br>
            <a:endParaRPr sz="1800">
              <a:solidFill>
                <a:srgbClr val="0F1115"/>
              </a:solidFill>
              <a:highlight>
                <a:srgbClr val="FFFFFF"/>
              </a:highlight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1000">
                <a:solidFill>
                  <a:srgbClr val="A0A1A7"/>
                </a:solidFill>
                <a:latin typeface="Consolas"/>
                <a:ea typeface="Consolas"/>
                <a:cs typeface="Consolas"/>
                <a:sym typeface="Consolas"/>
              </a:rPr>
              <a:t># Просто загружаете билд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dist/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├── index.html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├── bundle.js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└── assets/</a:t>
            </a:r>
            <a:endParaRPr sz="12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0" name="Google Shape;140;p24"/>
          <p:cNvSpPr txBox="1"/>
          <p:nvPr/>
        </p:nvSpPr>
        <p:spPr>
          <a:xfrm>
            <a:off x="4503075" y="751875"/>
            <a:ext cx="3419400" cy="19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170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0F1115"/>
                </a:solidFill>
                <a:highlight>
                  <a:srgbClr val="FFFFFF"/>
                </a:highlight>
              </a:rPr>
              <a:t>Провайдеры:</a:t>
            </a:r>
            <a:endParaRPr sz="1800">
              <a:solidFill>
                <a:srgbClr val="0F1115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700"/>
              </a:spcBef>
              <a:spcAft>
                <a:spcPts val="0"/>
              </a:spcAft>
              <a:buClr>
                <a:srgbClr val="0F1115"/>
              </a:buClr>
              <a:buSzPts val="1800"/>
              <a:buFont typeface="Arial"/>
              <a:buChar char="●"/>
            </a:pPr>
            <a:r>
              <a:rPr lang="ru" sz="1800">
                <a:solidFill>
                  <a:srgbClr val="0F1115"/>
                </a:solidFill>
                <a:highlight>
                  <a:srgbClr val="FFFFFF"/>
                </a:highlight>
              </a:rPr>
              <a:t>GitHub Pages (бесплатно)</a:t>
            </a:r>
            <a:endParaRPr sz="1800">
              <a:solidFill>
                <a:srgbClr val="0F1115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800"/>
              <a:buFont typeface="Arial"/>
              <a:buChar char="●"/>
            </a:pPr>
            <a:r>
              <a:rPr lang="ru" sz="1800">
                <a:solidFill>
                  <a:srgbClr val="0F1115"/>
                </a:solidFill>
                <a:highlight>
                  <a:srgbClr val="FFFFFF"/>
                </a:highlight>
              </a:rPr>
              <a:t>Netlify (бесплатный tier)</a:t>
            </a:r>
            <a:endParaRPr sz="1800">
              <a:solidFill>
                <a:srgbClr val="0F1115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800"/>
              <a:buFont typeface="Arial"/>
              <a:buChar char="●"/>
            </a:pPr>
            <a:r>
              <a:rPr lang="ru" sz="1800">
                <a:solidFill>
                  <a:srgbClr val="0F1115"/>
                </a:solidFill>
                <a:highlight>
                  <a:srgbClr val="FFFFFF"/>
                </a:highlight>
              </a:rPr>
              <a:t>Vercel (бесплатный tier)</a:t>
            </a:r>
            <a:endParaRPr sz="1800">
              <a:solidFill>
                <a:srgbClr val="0F1115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800"/>
              <a:buFont typeface="Arial"/>
              <a:buChar char="●"/>
            </a:pPr>
            <a:r>
              <a:rPr lang="ru" sz="1800">
                <a:solidFill>
                  <a:srgbClr val="0F1115"/>
                </a:solidFill>
                <a:highlight>
                  <a:srgbClr val="FFFFFF"/>
                </a:highlight>
              </a:rPr>
              <a:t>AWS S3 + CloudFront</a:t>
            </a:r>
            <a:endParaRPr sz="1800">
              <a:solidFill>
                <a:srgbClr val="0F1115"/>
              </a:solidFill>
              <a:highlight>
                <a:srgbClr val="FFFFFF"/>
              </a:highlight>
            </a:endParaRPr>
          </a:p>
        </p:txBody>
      </p:sp>
      <p:sp>
        <p:nvSpPr>
          <p:cNvPr id="141" name="Google Shape;141;p24"/>
          <p:cNvSpPr txBox="1"/>
          <p:nvPr/>
        </p:nvSpPr>
        <p:spPr>
          <a:xfrm>
            <a:off x="370250" y="3298300"/>
            <a:ext cx="80145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0F1115"/>
                </a:solidFill>
                <a:highlight>
                  <a:srgbClr val="FFFFFF"/>
                </a:highlight>
              </a:rPr>
              <a:t>2. Node.js сервер (для SSR Next.js):</a:t>
            </a:r>
            <a:endParaRPr sz="1800">
              <a:solidFill>
                <a:srgbClr val="0F1115"/>
              </a:solidFill>
              <a:highlight>
                <a:srgbClr val="FFFFFF"/>
              </a:highlight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000">
              <a:solidFill>
                <a:srgbClr val="A0A1A7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ru" sz="1000">
                <a:solidFill>
                  <a:srgbClr val="A0A1A7"/>
                </a:solidFill>
                <a:latin typeface="Consolas"/>
                <a:ea typeface="Consolas"/>
                <a:cs typeface="Consolas"/>
                <a:sym typeface="Consolas"/>
              </a:rPr>
              <a:t># Упаковываете приложение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npm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run build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30480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npm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start  </a:t>
            </a:r>
            <a:r>
              <a:rPr i="1" lang="ru" sz="1000">
                <a:solidFill>
                  <a:srgbClr val="A0A1A7"/>
                </a:solidFill>
                <a:latin typeface="Consolas"/>
                <a:ea typeface="Consolas"/>
                <a:cs typeface="Consolas"/>
                <a:sym typeface="Consolas"/>
              </a:rPr>
              <a:t># Запуск production сервера</a:t>
            </a:r>
            <a:endParaRPr i="1" sz="1000">
              <a:solidFill>
                <a:srgbClr val="A0A1A7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147" name="Google Shape;147;p25"/>
          <p:cNvSpPr txBox="1"/>
          <p:nvPr>
            <p:ph type="title"/>
          </p:nvPr>
        </p:nvSpPr>
        <p:spPr>
          <a:xfrm>
            <a:off x="311700" y="1065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Github pages</a:t>
            </a:r>
            <a:endParaRPr/>
          </a:p>
        </p:txBody>
      </p:sp>
      <p:pic>
        <p:nvPicPr>
          <p:cNvPr id="148" name="Google Shape;148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623550"/>
            <a:ext cx="7583693" cy="41594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154" name="Google Shape;154;p26"/>
          <p:cNvSpPr txBox="1"/>
          <p:nvPr>
            <p:ph type="title"/>
          </p:nvPr>
        </p:nvSpPr>
        <p:spPr>
          <a:xfrm>
            <a:off x="311700" y="1065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nginx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160" name="Google Shape;160;p27"/>
          <p:cNvSpPr txBox="1"/>
          <p:nvPr>
            <p:ph type="title"/>
          </p:nvPr>
        </p:nvSpPr>
        <p:spPr>
          <a:xfrm>
            <a:off x="311700" y="1065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Безопасность фронтенда</a:t>
            </a:r>
            <a:endParaRPr/>
          </a:p>
        </p:txBody>
      </p:sp>
      <p:sp>
        <p:nvSpPr>
          <p:cNvPr id="161" name="Google Shape;161;p27"/>
          <p:cNvSpPr txBox="1"/>
          <p:nvPr/>
        </p:nvSpPr>
        <p:spPr>
          <a:xfrm>
            <a:off x="365025" y="679250"/>
            <a:ext cx="7696200" cy="43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900">
                <a:solidFill>
                  <a:srgbClr val="0F1115"/>
                </a:solidFill>
                <a:highlight>
                  <a:srgbClr val="FFFFFF"/>
                </a:highlight>
              </a:rPr>
              <a:t>Основные угрозы:</a:t>
            </a:r>
            <a:endParaRPr sz="1900">
              <a:solidFill>
                <a:srgbClr val="0F1115"/>
              </a:solidFill>
              <a:highlight>
                <a:srgbClr val="FFFFFF"/>
              </a:highlight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F1115"/>
              </a:buClr>
              <a:buSzPts val="1900"/>
              <a:buFont typeface="Arial"/>
              <a:buChar char="●"/>
            </a:pPr>
            <a:r>
              <a:rPr lang="ru" sz="1900">
                <a:solidFill>
                  <a:srgbClr val="0F1115"/>
                </a:solidFill>
                <a:highlight>
                  <a:srgbClr val="FFFFFF"/>
                </a:highlight>
              </a:rPr>
              <a:t>🔓 XSS (Cross-Site Scripting) — инъекция кода</a:t>
            </a:r>
            <a:endParaRPr sz="1900">
              <a:solidFill>
                <a:srgbClr val="0F1115"/>
              </a:solidFill>
              <a:highlight>
                <a:srgbClr val="FFFFFF"/>
              </a:highlight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900"/>
              <a:buFont typeface="Arial"/>
              <a:buChar char="●"/>
            </a:pPr>
            <a:r>
              <a:rPr lang="ru" sz="1900">
                <a:solidFill>
                  <a:srgbClr val="0F1115"/>
                </a:solidFill>
                <a:highlight>
                  <a:srgbClr val="FFFFFF"/>
                </a:highlight>
              </a:rPr>
              <a:t>🔑 CSRF (Cross-Site Request Forgery) — подделка запросов</a:t>
            </a:r>
            <a:endParaRPr sz="1900">
              <a:solidFill>
                <a:srgbClr val="0F1115"/>
              </a:solidFill>
              <a:highlight>
                <a:srgbClr val="FFFFFF"/>
              </a:highlight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900"/>
              <a:buFont typeface="Arial"/>
              <a:buChar char="●"/>
            </a:pPr>
            <a:r>
              <a:rPr lang="ru" sz="1900">
                <a:solidFill>
                  <a:srgbClr val="0F1115"/>
                </a:solidFill>
                <a:highlight>
                  <a:srgbClr val="FFFFFF"/>
                </a:highlight>
              </a:rPr>
              <a:t>📡 Information leakage — утечка данных</a:t>
            </a:r>
            <a:endParaRPr sz="1900">
              <a:solidFill>
                <a:srgbClr val="0F1115"/>
              </a:solidFill>
              <a:highlight>
                <a:srgbClr val="FFFFFF"/>
              </a:highlight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900"/>
              <a:buFont typeface="Arial"/>
              <a:buChar char="●"/>
            </a:pPr>
            <a:r>
              <a:rPr lang="ru" sz="1900">
                <a:solidFill>
                  <a:srgbClr val="0F1115"/>
                </a:solidFill>
                <a:highlight>
                  <a:srgbClr val="FFFFFF"/>
                </a:highlight>
              </a:rPr>
              <a:t>🏗️ Dependency vulnerabilities — уязвимости в зависимостях</a:t>
            </a:r>
            <a:endParaRPr sz="1900">
              <a:solidFill>
                <a:srgbClr val="0F1115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900">
                <a:solidFill>
                  <a:srgbClr val="0F1115"/>
                </a:solidFill>
                <a:highlight>
                  <a:srgbClr val="FFFFFF"/>
                </a:highlight>
              </a:rPr>
              <a:t>Меры защиты:</a:t>
            </a:r>
            <a:endParaRPr sz="1900">
              <a:solidFill>
                <a:srgbClr val="0F1115"/>
              </a:solidFill>
              <a:highlight>
                <a:srgbClr val="FFFFFF"/>
              </a:highlight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F1115"/>
              </a:buClr>
              <a:buSzPts val="1900"/>
              <a:buFont typeface="Arial"/>
              <a:buChar char="●"/>
            </a:pPr>
            <a:r>
              <a:rPr lang="ru" sz="1900">
                <a:solidFill>
                  <a:srgbClr val="0F1115"/>
                </a:solidFill>
                <a:highlight>
                  <a:srgbClr val="FFFFFF"/>
                </a:highlight>
              </a:rPr>
              <a:t>✅ Content Security Policy (CSP) — ограничение источников</a:t>
            </a:r>
            <a:endParaRPr sz="1900">
              <a:solidFill>
                <a:srgbClr val="0F1115"/>
              </a:solidFill>
              <a:highlight>
                <a:srgbClr val="FFFFFF"/>
              </a:highlight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900"/>
              <a:buFont typeface="Arial"/>
              <a:buChar char="●"/>
            </a:pPr>
            <a:r>
              <a:rPr lang="ru" sz="1900">
                <a:solidFill>
                  <a:srgbClr val="0F1115"/>
                </a:solidFill>
                <a:highlight>
                  <a:srgbClr val="FFFFFF"/>
                </a:highlight>
              </a:rPr>
              <a:t>✅ HTTP только куки — защита от XSS</a:t>
            </a:r>
            <a:endParaRPr sz="1900">
              <a:solidFill>
                <a:srgbClr val="0F1115"/>
              </a:solidFill>
              <a:highlight>
                <a:srgbClr val="FFFFFF"/>
              </a:highlight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900"/>
              <a:buFont typeface="Arial"/>
              <a:buChar char="●"/>
            </a:pPr>
            <a:r>
              <a:rPr lang="ru" sz="1900">
                <a:solidFill>
                  <a:srgbClr val="0F1115"/>
                </a:solidFill>
                <a:highlight>
                  <a:srgbClr val="FFFFFF"/>
                </a:highlight>
              </a:rPr>
              <a:t>✅ CORS настройка — контроль доступа к API</a:t>
            </a:r>
            <a:endParaRPr sz="1900">
              <a:solidFill>
                <a:srgbClr val="0F1115"/>
              </a:solidFill>
              <a:highlight>
                <a:srgbClr val="FFFFFF"/>
              </a:highlight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900"/>
              <a:buFont typeface="Arial"/>
              <a:buChar char="●"/>
            </a:pPr>
            <a:r>
              <a:rPr lang="ru" sz="1900">
                <a:solidFill>
                  <a:srgbClr val="0F1115"/>
                </a:solidFill>
                <a:highlight>
                  <a:srgbClr val="FFFFFF"/>
                </a:highlight>
              </a:rPr>
              <a:t>✅ Регулярное обновление зависимостей</a:t>
            </a:r>
            <a:endParaRPr sz="1900">
              <a:solidFill>
                <a:srgbClr val="0F1115"/>
              </a:solidFill>
              <a:highlight>
                <a:srgbClr val="FFFFFF"/>
              </a:highlight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900"/>
              <a:buFont typeface="Arial"/>
              <a:buChar char="●"/>
            </a:pPr>
            <a:r>
              <a:rPr lang="ru" sz="1900">
                <a:solidFill>
                  <a:srgbClr val="0F1115"/>
                </a:solidFill>
                <a:highlight>
                  <a:srgbClr val="FFFFFF"/>
                </a:highlight>
              </a:rPr>
              <a:t>✅ Environment variables — не хранить секреты в коде</a:t>
            </a:r>
            <a:endParaRPr sz="1900">
              <a:solidFill>
                <a:srgbClr val="0F1115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167" name="Google Shape;167;p28"/>
          <p:cNvSpPr txBox="1"/>
          <p:nvPr>
            <p:ph type="title"/>
          </p:nvPr>
        </p:nvSpPr>
        <p:spPr>
          <a:xfrm>
            <a:off x="311700" y="1065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Итоги и дальнейший путь</a:t>
            </a:r>
            <a:endParaRPr/>
          </a:p>
        </p:txBody>
      </p:sp>
      <p:sp>
        <p:nvSpPr>
          <p:cNvPr id="168" name="Google Shape;168;p28"/>
          <p:cNvSpPr txBox="1"/>
          <p:nvPr/>
        </p:nvSpPr>
        <p:spPr>
          <a:xfrm>
            <a:off x="365025" y="679250"/>
            <a:ext cx="7696200" cy="429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 sz="1600">
                <a:solidFill>
                  <a:srgbClr val="0F1115"/>
                </a:solidFill>
                <a:highlight>
                  <a:srgbClr val="FFFFFF"/>
                </a:highlight>
              </a:rPr>
              <a:t>Что мы освоили:</a:t>
            </a:r>
            <a:endParaRPr b="1" sz="1600">
              <a:solidFill>
                <a:srgbClr val="0F1115"/>
              </a:solidFill>
              <a:highlight>
                <a:srgbClr val="FFFFFF"/>
              </a:highlight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F1115"/>
              </a:buClr>
              <a:buSzPts val="1600"/>
              <a:buFont typeface="Arial"/>
              <a:buAutoNum type="arabicPeriod"/>
            </a:pPr>
            <a:r>
              <a:rPr lang="ru" sz="1600">
                <a:solidFill>
                  <a:srgbClr val="0F1115"/>
                </a:solidFill>
                <a:highlight>
                  <a:srgbClr val="FFFFFF"/>
                </a:highlight>
              </a:rPr>
              <a:t>От основ JavaScript к продвинутому React</a:t>
            </a:r>
            <a:endParaRPr sz="1600">
              <a:solidFill>
                <a:srgbClr val="0F1115"/>
              </a:solidFill>
              <a:highlight>
                <a:srgbClr val="FFFFFF"/>
              </a:highlight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600"/>
              <a:buFont typeface="Arial"/>
              <a:buAutoNum type="arabicPeriod"/>
            </a:pPr>
            <a:r>
              <a:rPr lang="ru" sz="1600">
                <a:solidFill>
                  <a:srgbClr val="0F1115"/>
                </a:solidFill>
                <a:highlight>
                  <a:srgbClr val="FFFFFF"/>
                </a:highlight>
              </a:rPr>
              <a:t>От ручной настройки к фреймворкам</a:t>
            </a:r>
            <a:endParaRPr sz="1600">
              <a:solidFill>
                <a:srgbClr val="0F1115"/>
              </a:solidFill>
              <a:highlight>
                <a:srgbClr val="FFFFFF"/>
              </a:highlight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600"/>
              <a:buFont typeface="Arial"/>
              <a:buAutoNum type="arabicPeriod"/>
            </a:pPr>
            <a:r>
              <a:rPr lang="ru" sz="1600">
                <a:solidFill>
                  <a:srgbClr val="0F1115"/>
                </a:solidFill>
                <a:highlight>
                  <a:srgbClr val="FFFFFF"/>
                </a:highlight>
              </a:rPr>
              <a:t>От локальной разработки к деплою</a:t>
            </a:r>
            <a:endParaRPr sz="1600">
              <a:solidFill>
                <a:srgbClr val="0F1115"/>
              </a:solidFill>
              <a:highlight>
                <a:srgbClr val="FFFFFF"/>
              </a:highlight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600"/>
              <a:buFont typeface="Arial"/>
              <a:buAutoNum type="arabicPeriod"/>
            </a:pPr>
            <a:r>
              <a:rPr lang="ru" sz="1600">
                <a:solidFill>
                  <a:srgbClr val="0F1115"/>
                </a:solidFill>
                <a:highlight>
                  <a:srgbClr val="FFFFFF"/>
                </a:highlight>
              </a:rPr>
              <a:t>От библиотеки к полноценным приложениям</a:t>
            </a:r>
            <a:endParaRPr sz="1600">
              <a:solidFill>
                <a:srgbClr val="0F1115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 sz="1600">
                <a:solidFill>
                  <a:srgbClr val="0F1115"/>
                </a:solidFill>
                <a:highlight>
                  <a:srgbClr val="FFFFFF"/>
                </a:highlight>
              </a:rPr>
              <a:t>Дальнейшее развитие:</a:t>
            </a:r>
            <a:endParaRPr b="1" sz="1600">
              <a:solidFill>
                <a:srgbClr val="0F1115"/>
              </a:solidFill>
              <a:highlight>
                <a:srgbClr val="FFFFFF"/>
              </a:highlight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F1115"/>
              </a:buClr>
              <a:buSzPts val="1600"/>
              <a:buFont typeface="Arial"/>
              <a:buChar char="●"/>
            </a:pPr>
            <a:r>
              <a:rPr lang="ru" sz="1600">
                <a:solidFill>
                  <a:srgbClr val="0F1115"/>
                </a:solidFill>
                <a:highlight>
                  <a:srgbClr val="FFFFFF"/>
                </a:highlight>
              </a:rPr>
              <a:t>🚀 Углубиться в Next.js — App Router, Server Actions</a:t>
            </a:r>
            <a:endParaRPr sz="1600">
              <a:solidFill>
                <a:srgbClr val="0F1115"/>
              </a:solidFill>
              <a:highlight>
                <a:srgbClr val="FFFFFF"/>
              </a:highlight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600"/>
              <a:buFont typeface="Arial"/>
              <a:buChar char="●"/>
            </a:pPr>
            <a:r>
              <a:rPr lang="ru" sz="1600">
                <a:solidFill>
                  <a:srgbClr val="0F1115"/>
                </a:solidFill>
                <a:highlight>
                  <a:srgbClr val="FFFFFF"/>
                </a:highlight>
              </a:rPr>
              <a:t>📱 Попробовать React Native — мобильная разработка</a:t>
            </a:r>
            <a:endParaRPr sz="1600">
              <a:solidFill>
                <a:srgbClr val="0F1115"/>
              </a:solidFill>
              <a:highlight>
                <a:srgbClr val="FFFFFF"/>
              </a:highlight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600"/>
              <a:buFont typeface="Roboto"/>
              <a:buChar char="●"/>
            </a:pPr>
            <a:r>
              <a:rPr lang="ru" sz="1600">
                <a:solidFill>
                  <a:srgbClr val="0F1115"/>
                </a:solidFill>
                <a:highlight>
                  <a:schemeClr val="lt1"/>
                </a:highlight>
              </a:rPr>
              <a:t>📱 </a:t>
            </a:r>
            <a:r>
              <a:rPr lang="ru" sz="1600">
                <a:solidFill>
                  <a:srgbClr val="0F1115"/>
                </a:solidFill>
                <a:highlight>
                  <a:srgbClr val="FFFFFF"/>
                </a:highlight>
              </a:rPr>
              <a:t>PWA, server-workers</a:t>
            </a:r>
            <a:endParaRPr sz="1600">
              <a:solidFill>
                <a:srgbClr val="0F1115"/>
              </a:solidFill>
              <a:highlight>
                <a:srgbClr val="FFFFFF"/>
              </a:highlight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600"/>
              <a:buFont typeface="Arial"/>
              <a:buChar char="●"/>
            </a:pPr>
            <a:r>
              <a:rPr lang="ru" sz="1600">
                <a:solidFill>
                  <a:srgbClr val="0F1115"/>
                </a:solidFill>
                <a:highlight>
                  <a:srgbClr val="FFFFFF"/>
                </a:highlight>
              </a:rPr>
              <a:t>☁️ Изучить cloud платформы — AWS, GCP, Azure</a:t>
            </a:r>
            <a:endParaRPr sz="1600">
              <a:solidFill>
                <a:srgbClr val="0F1115"/>
              </a:solidFill>
              <a:highlight>
                <a:srgbClr val="FFFFFF"/>
              </a:highlight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600"/>
              <a:buFont typeface="Arial"/>
              <a:buChar char="●"/>
            </a:pPr>
            <a:r>
              <a:rPr lang="ru" sz="1600">
                <a:solidFill>
                  <a:srgbClr val="0F1115"/>
                </a:solidFill>
                <a:highlight>
                  <a:srgbClr val="FFFFFF"/>
                </a:highlight>
              </a:rPr>
              <a:t>🔧 Освоить DevOps — Docker, Kubernetes, CI/CD</a:t>
            </a:r>
            <a:endParaRPr sz="1600">
              <a:solidFill>
                <a:srgbClr val="0F1115"/>
              </a:solidFill>
              <a:highlight>
                <a:srgbClr val="FFFFFF"/>
              </a:highlight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600"/>
              <a:buFont typeface="Arial"/>
              <a:buChar char="●"/>
            </a:pPr>
            <a:r>
              <a:rPr lang="ru" sz="1600">
                <a:solidFill>
                  <a:srgbClr val="0F1115"/>
                </a:solidFill>
                <a:highlight>
                  <a:srgbClr val="FFFFFF"/>
                </a:highlight>
              </a:rPr>
              <a:t>🎨 UI/UX дизайн + css + UI-фреймворки — создание качественных интерфейсов</a:t>
            </a:r>
            <a:endParaRPr sz="1900">
              <a:solidFill>
                <a:srgbClr val="0F1115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174" name="Google Shape;174;p29"/>
          <p:cNvSpPr txBox="1"/>
          <p:nvPr>
            <p:ph type="title"/>
          </p:nvPr>
        </p:nvSpPr>
        <p:spPr>
          <a:xfrm>
            <a:off x="311700" y="1065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Что у вас есть</a:t>
            </a:r>
            <a:endParaRPr/>
          </a:p>
        </p:txBody>
      </p:sp>
      <p:sp>
        <p:nvSpPr>
          <p:cNvPr id="175" name="Google Shape;175;p29"/>
          <p:cNvSpPr txBox="1"/>
          <p:nvPr/>
        </p:nvSpPr>
        <p:spPr>
          <a:xfrm>
            <a:off x="365025" y="679250"/>
            <a:ext cx="7696200" cy="446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F1115"/>
              </a:buClr>
              <a:buSzPts val="1600"/>
              <a:buFont typeface="Arial"/>
              <a:buAutoNum type="arabicPeriod"/>
            </a:pPr>
            <a:r>
              <a:rPr lang="ru" sz="1600">
                <a:solidFill>
                  <a:srgbClr val="0F1115"/>
                </a:solidFill>
                <a:highlight>
                  <a:srgbClr val="FFFFFF"/>
                </a:highlight>
              </a:rPr>
              <a:t>Расширение на JS</a:t>
            </a:r>
            <a:r>
              <a:rPr lang="ru" sz="1600">
                <a:solidFill>
                  <a:srgbClr val="0F1115"/>
                </a:solidFill>
                <a:highlight>
                  <a:srgbClr val="FFFFFF"/>
                </a:highlight>
              </a:rPr>
              <a:t>, который можно разместить в личном github и включить в pet проекты</a:t>
            </a:r>
            <a:endParaRPr sz="1600">
              <a:solidFill>
                <a:srgbClr val="0F1115"/>
              </a:solidFill>
              <a:highlight>
                <a:srgbClr val="FFFFFF"/>
              </a:highlight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600"/>
              <a:buFont typeface="Arial"/>
              <a:buAutoNum type="arabicPeriod"/>
            </a:pPr>
            <a:r>
              <a:rPr lang="ru" sz="1600">
                <a:solidFill>
                  <a:srgbClr val="0F1115"/>
                </a:solidFill>
                <a:highlight>
                  <a:srgbClr val="FFFFFF"/>
                </a:highlight>
              </a:rPr>
              <a:t>Телеграмм бот на JS, который можно разместить в личном github и включить в pet проекты</a:t>
            </a:r>
            <a:endParaRPr sz="1600">
              <a:solidFill>
                <a:srgbClr val="0F1115"/>
              </a:solidFill>
              <a:highlight>
                <a:srgbClr val="FFFFFF"/>
              </a:highlight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600"/>
              <a:buFont typeface="Arial"/>
              <a:buAutoNum type="arabicPeriod"/>
            </a:pPr>
            <a:r>
              <a:rPr lang="ru" sz="1600">
                <a:solidFill>
                  <a:srgbClr val="0F1115"/>
                </a:solidFill>
                <a:highlight>
                  <a:srgbClr val="FFFFFF"/>
                </a:highlight>
              </a:rPr>
              <a:t>Основной веб проект на TS+react</a:t>
            </a:r>
            <a:r>
              <a:rPr lang="ru" sz="1600">
                <a:solidFill>
                  <a:srgbClr val="0F1115"/>
                </a:solidFill>
                <a:highlight>
                  <a:srgbClr val="FFFFFF"/>
                </a:highlight>
              </a:rPr>
              <a:t>, который можно разместить в личном github и включить в pet проекты и разместить в github pages</a:t>
            </a:r>
            <a:endParaRPr sz="1600">
              <a:solidFill>
                <a:srgbClr val="0F1115"/>
              </a:solidFill>
              <a:highlight>
                <a:srgbClr val="FFFFFF"/>
              </a:highlight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600"/>
              <a:buFont typeface="Arial"/>
              <a:buAutoNum type="arabicPeriod"/>
            </a:pPr>
            <a:r>
              <a:rPr lang="ru" sz="1600">
                <a:solidFill>
                  <a:srgbClr val="0F1115"/>
                </a:solidFill>
                <a:highlight>
                  <a:srgbClr val="FFFFFF"/>
                </a:highlight>
              </a:rPr>
              <a:t>Знания чтобы оформить себе резюме с базовыми проектами в github и github pages</a:t>
            </a:r>
            <a:endParaRPr sz="1600">
              <a:solidFill>
                <a:srgbClr val="0F1115"/>
              </a:solidFill>
              <a:highlight>
                <a:srgbClr val="FFFFFF"/>
              </a:highlight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70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0F1115"/>
              </a:solidFill>
              <a:highlight>
                <a:srgbClr val="FFFFFF"/>
              </a:highlight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70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0F1115"/>
              </a:solidFill>
              <a:highlight>
                <a:srgbClr val="FFFFFF"/>
              </a:highlight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70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0F1115"/>
              </a:solidFill>
              <a:highlight>
                <a:srgbClr val="FFFFFF"/>
              </a:highlight>
            </a:endParaRPr>
          </a:p>
          <a:p>
            <a:pPr indent="0" lvl="0" marL="457200" rtl="0" algn="ctr">
              <a:lnSpc>
                <a:spcPct val="115000"/>
              </a:lnSpc>
              <a:spcBef>
                <a:spcPts val="1700"/>
              </a:spcBef>
              <a:spcAft>
                <a:spcPts val="1200"/>
              </a:spcAft>
              <a:buNone/>
            </a:pPr>
            <a:r>
              <a:rPr b="1" lang="ru" sz="1900">
                <a:solidFill>
                  <a:srgbClr val="0F1115"/>
                </a:solidFill>
                <a:highlight>
                  <a:srgbClr val="FFFFFF"/>
                </a:highlight>
              </a:rPr>
              <a:t>Удачи на экзамене!</a:t>
            </a:r>
            <a:endParaRPr sz="2200">
              <a:solidFill>
                <a:srgbClr val="0F1115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
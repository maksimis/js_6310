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0568336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0568336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5056833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5056833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0568336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50568336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bfde1d5f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bfde1d5f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50568336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50568336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bfde1d5f0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bfde1d5f0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50568336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50568336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b1550d5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b1550d5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505683364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505683364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50568336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50568336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505683364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505683364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505683364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505683364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7f179aa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7f179aa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7f179aa4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7f179aa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7f179aa4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7f179aa4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505683364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505683364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505683364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505683364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505683364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505683364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505683364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505683364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d3e4bc38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d3e4bc38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vue.j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mozilla.org/ru/docs/Web/JavaScript" TargetMode="External"/><Relationship Id="rId4" Type="http://schemas.openxmlformats.org/officeDocument/2006/relationships/hyperlink" Target="https://nodejs.org/docs/latest/api/" TargetMode="External"/><Relationship Id="rId5" Type="http://schemas.openxmlformats.org/officeDocument/2006/relationships/hyperlink" Target="https://learn.javascript.ru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node.j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11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JavaScript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3744" l="0" r="0" t="0"/>
          <a:stretch/>
        </p:blipFill>
        <p:spPr>
          <a:xfrm>
            <a:off x="621850" y="152400"/>
            <a:ext cx="764005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1592025"/>
            <a:ext cx="8520600" cy="3225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ru" sz="16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Высокоуровневый, интерпретируемый язык программирования.</a:t>
            </a:r>
            <a:endParaRPr sz="16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ru" sz="16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НЕ JAVA — это совершенно разные языки.</a:t>
            </a:r>
            <a:endParaRPr sz="16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ru" sz="16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Придает веб-страницам интерактивность.</a:t>
            </a:r>
            <a:endParaRPr sz="16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ru" sz="16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Запускается на стороне клиента (в браузере пользователя) и на стороне сервера (Node.js).</a:t>
            </a:r>
            <a:endParaRPr sz="16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ru" sz="16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Один из трех "столпов" веб-разработки (HTML, CSS, JS).</a:t>
            </a:r>
            <a:endParaRPr sz="16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00" y="122450"/>
            <a:ext cx="1259925" cy="12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1666875" y="405225"/>
            <a:ext cx="6422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JavaScript?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3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Где работает JavaScript?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Браузер: Обработка форм, анимация, запросы к серверу без перезагрузки страницы (</a:t>
            </a:r>
            <a:r>
              <a:rPr lang="ru" strike="sngStrike"/>
              <a:t>AJAX</a:t>
            </a:r>
            <a:r>
              <a:rPr lang="ru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Сервер (Node.js): Веб-серверы, API, работа с базами данных.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Веб-приложения: React, </a:t>
            </a:r>
            <a:r>
              <a:rPr lang="ru" u="sng">
                <a:solidFill>
                  <a:schemeClr val="hlink"/>
                </a:solidFill>
                <a:hlinkClick r:id="rId3"/>
              </a:rPr>
              <a:t>Vue.js</a:t>
            </a:r>
            <a:r>
              <a:rPr lang="ru"/>
              <a:t>, Angular и др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Мобильные приложения (React Native, Ionic): Кроссплатформенная разработка.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Десктопные приложения (Electron и др.): VS Code, Discord, Slack.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3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Документация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MDN: </a:t>
            </a:r>
            <a:r>
              <a:rPr lang="ru" sz="2100" u="sng">
                <a:solidFill>
                  <a:schemeClr val="hlink"/>
                </a:solidFill>
                <a:hlinkClick r:id="rId3"/>
              </a:rPr>
              <a:t>https://developer.mozilla.org/ru/docs/Web/JavaScript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00"/>
              <a:t>Node.js: </a:t>
            </a:r>
            <a:r>
              <a:rPr lang="ru" sz="2100" u="sng">
                <a:solidFill>
                  <a:schemeClr val="hlink"/>
                </a:solidFill>
                <a:hlinkClick r:id="rId4"/>
              </a:rPr>
              <a:t>https://nodejs.org/docs/latest/api/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100"/>
              <a:t>Учебник JS: </a:t>
            </a:r>
            <a:r>
              <a:rPr lang="ru" sz="2100" u="sng">
                <a:solidFill>
                  <a:schemeClr val="hlink"/>
                </a:solidFill>
                <a:hlinkClick r:id="rId5"/>
              </a:rPr>
              <a:t>https://learn.javascript.ru/</a:t>
            </a:r>
            <a:endParaRPr sz="2100"/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8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Настройка окружения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0" y="752875"/>
            <a:ext cx="9144000" cy="3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Редактор кода: </a:t>
            </a:r>
            <a:r>
              <a:rPr b="1" lang="ru" sz="2200"/>
              <a:t>Visual Studio Code</a:t>
            </a:r>
            <a:r>
              <a:rPr lang="ru" sz="2200"/>
              <a:t> (рекомендуется), WebStorm, Sublime Text (не рекомендуется).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Браузер: </a:t>
            </a:r>
            <a:r>
              <a:rPr b="1" lang="ru" sz="2200"/>
              <a:t>Chrome</a:t>
            </a:r>
            <a:r>
              <a:rPr lang="ru" sz="2200"/>
              <a:t>, Firefox (с инструментами разработчика).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ru" sz="2200"/>
              <a:t>Node.js </a:t>
            </a:r>
            <a:r>
              <a:rPr lang="ru" sz="2200"/>
              <a:t>и npm (Node Package Manager): Для управления библиотеками и запуска JS вне браузера.</a:t>
            </a:r>
            <a:endParaRPr/>
          </a:p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34125"/>
            <a:ext cx="85206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Перед использованием новых функций, смотрим совместимость на MDN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5725"/>
            <a:ext cx="8743224" cy="35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Первая программа: "Hello, World!" в браузере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49050" y="945700"/>
            <a:ext cx="7708500" cy="399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ru" sz="16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DOCTYPE html</a:t>
            </a:r>
            <a:r>
              <a:rPr lang="ru" sz="16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Моя первая программа</a:t>
            </a: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&lt;/title&gt;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Добро пожаловать!</a:t>
            </a: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&lt;/h1&gt;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// Это комментарий. Следующая строка выводит сообщение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console.log("Hello, World!");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alert("Привет, группа!"); 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&lt;/script&gt;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sz="16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&lt;/html&gt;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800" y="714449"/>
            <a:ext cx="5233674" cy="404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483350" y="331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2"/>
                </a:solidFill>
              </a:rPr>
              <a:t>Отладка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625350" y="2059500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2"/>
                </a:solidFill>
              </a:rPr>
              <a:t>Отладка в Console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330225" y="2632200"/>
            <a:ext cx="7708500" cy="22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console.log() — основной инструмент для вывода значений.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console.error() — вывод ошибок.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console.warn() — вывод предупреждений.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console.table() — вывод данных в виде таблицы (для объектов и массивов).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204900" y="0"/>
            <a:ext cx="8627400" cy="22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2"/>
                </a:solidFill>
              </a:rPr>
              <a:t>Дебаг</a:t>
            </a:r>
            <a:endParaRPr b="1"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" sz="2000">
                <a:solidFill>
                  <a:schemeClr val="dk2"/>
                </a:solidFill>
              </a:rPr>
              <a:t>Chrome:</a:t>
            </a:r>
            <a:endParaRPr sz="20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ru" sz="1600">
                <a:solidFill>
                  <a:schemeClr val="dk2"/>
                </a:solidFill>
              </a:rPr>
              <a:t>F12 -&gt; Источники (Sources) -&gt; Ctrl+P (Поиск файла) -&gt; Точки остановки -&gt; Перезапуск (если нужно)</a:t>
            </a:r>
            <a:endParaRPr sz="16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" sz="2000">
                <a:solidFill>
                  <a:schemeClr val="dk2"/>
                </a:solidFill>
              </a:rPr>
              <a:t>V</a:t>
            </a:r>
            <a:r>
              <a:rPr lang="ru" sz="2000">
                <a:solidFill>
                  <a:schemeClr val="dk2"/>
                </a:solidFill>
              </a:rPr>
              <a:t>S Code</a:t>
            </a:r>
            <a:r>
              <a:rPr lang="ru" sz="2000">
                <a:solidFill>
                  <a:schemeClr val="dk2"/>
                </a:solidFill>
              </a:rPr>
              <a:t>:</a:t>
            </a:r>
            <a:endParaRPr sz="20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ru" sz="1600">
                <a:solidFill>
                  <a:schemeClr val="dk2"/>
                </a:solidFill>
              </a:rPr>
              <a:t>Точки остановки -&gt; F5 -&gt; Выбрать </a:t>
            </a:r>
            <a:r>
              <a:rPr lang="ru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r>
              <a:rPr lang="ru" sz="1600">
                <a:solidFill>
                  <a:schemeClr val="dk2"/>
                </a:solidFill>
              </a:rPr>
              <a:t> -&gt; Profit!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226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Переменные: контейнеры для данных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15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var — (устаревший способ, будем избегать).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let — объявление переменной, значение которой можно изменить.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const — объявление константы, значение которой нельзя перезаписать.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408225" y="2918750"/>
            <a:ext cx="7708500" cy="119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"Анна"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Объявили переменную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"Борис"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Изменили ее значение (OK)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birthYear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2002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birthYear = 2003;    // Вызовет ОШИБКУ!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Основные типы данных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1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Number: Числа (целые и дробные).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highlight>
                  <a:schemeClr val="lt2"/>
                </a:highlight>
              </a:rPr>
              <a:t>let age = 20;</a:t>
            </a:r>
            <a:endParaRPr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String: Строки (текст в кавычках).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highlight>
                  <a:schemeClr val="lt2"/>
                </a:highlight>
              </a:rPr>
              <a:t>let name = "Иван";</a:t>
            </a:r>
            <a:endParaRPr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Boolean: Логический тип (true/false).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highlight>
                  <a:schemeClr val="lt2"/>
                </a:highlight>
              </a:rPr>
              <a:t>let isStudent = true;</a:t>
            </a:r>
            <a:endParaRPr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undefined: Значение не присвоено.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null: Значение "ничего".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Операторы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Арифметические: +, -, *, /, % (остаток от деления).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Сравнения: == (нестрогое равенство), === (строгое равенство), !=, !==, &gt;, &lt;.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Логические: &amp;&amp; (И), || (ИЛИ), ! (НЕ).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408225" y="2803075"/>
            <a:ext cx="7708500" cy="134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15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1 (остаток от деления)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true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"5"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true (проверяет значение, но не тип!)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"5"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false (проверяет и значение, и тип!)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600" y="9638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24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Некоторые особенности динамической типизации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400" y="741500"/>
            <a:ext cx="3870750" cy="41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285275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Некоторые особенности приведения дробной части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﻿ЗауаБсг1р1...&#10;&gt;9027199254741024+1 9027199254741024&#10;&gt;9027199254741024 + 2&#10;==9027199254741024?&#10;ггие&#10;/&#10;&#10;&gt;9027199254741034+^ 9027199254741035&#10;&gt;9027199254741010-1&#10;9027199254741008&#10;&gt;9027199254741025 +1 = 9027199254741024 1а1$е&#10;.буду проституткой,it-юмор,geek,Прикольные гаджеты. Научный,"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100" y="729200"/>
            <a:ext cx="3819925" cy="426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type="title"/>
          </p:nvPr>
        </p:nvSpPr>
        <p:spPr>
          <a:xfrm>
            <a:off x="285275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Некоторые особенности хранения максимального значения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Комментарии в коде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9" name="Google Shape;169;p29"/>
          <p:cNvSpPr txBox="1"/>
          <p:nvPr/>
        </p:nvSpPr>
        <p:spPr>
          <a:xfrm>
            <a:off x="462650" y="1177025"/>
            <a:ext cx="7708500" cy="193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Это однострочный комментарий. Он игнорируется интерпретатором.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x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Комментарий можно ставить и в конце строки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/*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А это многострочный комментарий.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Он может занимать несколько строк.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Всем кодом, который находится между этими символами,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интерпретатор будет пренебрегать.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*/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Условные операторы (if, else, тернарный оператор)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6" name="Google Shape;176;p30"/>
          <p:cNvSpPr txBox="1"/>
          <p:nvPr/>
        </p:nvSpPr>
        <p:spPr>
          <a:xfrm>
            <a:off x="462650" y="1177025"/>
            <a:ext cx="7708500" cy="369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Конструкция if...else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"Добро пожаловать!"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"Вход запрещен!"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Тернарный оператор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message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"Добро пожаловать!"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"Вход запрещен!"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else if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time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"Доброе утро!"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"Добрый день!"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Выполнится это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"Добрый вечер!"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Шаблонные строки (Template Literals)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3" name="Google Shape;183;p31"/>
          <p:cNvSpPr txBox="1"/>
          <p:nvPr/>
        </p:nvSpPr>
        <p:spPr>
          <a:xfrm>
            <a:off x="462650" y="1177025"/>
            <a:ext cx="7708500" cy="335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"Анна"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Старый способ (конкатенация)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oldWay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"Привет, "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"! Тебе "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 лет."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Новый способ (шаблонные строки)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newWay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`Привет,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! Тебе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лет.`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Можно вставлять любое выражение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calculation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`Через 5 лет тебе будет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лет.`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 многострочность без \\n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multiLine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endParaRPr sz="950">
              <a:solidFill>
                <a:srgbClr val="91D07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   Это многострочная</a:t>
            </a:r>
            <a:endParaRPr sz="950">
              <a:solidFill>
                <a:srgbClr val="91D07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   строка. Очень удобно</a:t>
            </a:r>
            <a:endParaRPr sz="950">
              <a:solidFill>
                <a:srgbClr val="91D07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   для HTML-шаблонов.</a:t>
            </a:r>
            <a:endParaRPr sz="950">
              <a:solidFill>
                <a:srgbClr val="91D07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multiLine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Современный</a:t>
            </a:r>
            <a:r>
              <a:rPr b="1" lang="ru" sz="2300">
                <a:solidFill>
                  <a:schemeClr val="dk2"/>
                </a:solidFill>
              </a:rPr>
              <a:t> JavaScript (ES6+)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0" name="Google Shape;190;p32"/>
          <p:cNvSpPr txBox="1"/>
          <p:nvPr/>
        </p:nvSpPr>
        <p:spPr>
          <a:xfrm>
            <a:off x="462650" y="1177025"/>
            <a:ext cx="7708500" cy="253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ES (ECMAScript) — стандарт, которому следует JS.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ES6 (2015) — огромное обновление: let/const, стрелочные функции, классы, модули и многое другое.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Сейчас стандарт обновляется ежегодно (ES2016, ES2017...).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Мы будем изучать современный синтаксис.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775" y="205263"/>
            <a:ext cx="5454126" cy="47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7" name="Google Shape;197;p33"/>
          <p:cNvSpPr txBox="1"/>
          <p:nvPr>
            <p:ph type="title"/>
          </p:nvPr>
        </p:nvSpPr>
        <p:spPr>
          <a:xfrm>
            <a:off x="411025" y="352325"/>
            <a:ext cx="2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
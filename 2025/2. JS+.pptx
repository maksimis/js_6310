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Roboto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Mono-bold.fntdata"/><Relationship Id="rId12" Type="http://schemas.openxmlformats.org/officeDocument/2006/relationships/slide" Target="slides/slide7.xml"/><Relationship Id="rId34" Type="http://schemas.openxmlformats.org/officeDocument/2006/relationships/font" Target="fonts/RobotoMono-regular.fntdata"/><Relationship Id="rId15" Type="http://schemas.openxmlformats.org/officeDocument/2006/relationships/slide" Target="slides/slide10.xml"/><Relationship Id="rId37" Type="http://schemas.openxmlformats.org/officeDocument/2006/relationships/font" Target="fonts/RobotoMono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Mon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a0090ef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a0090ef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a0090ef9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a0090ef9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a0090ef9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a0090ef9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a0090ef9b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a0090ef9b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a0090ef9b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a0090ef9b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b14e21d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b14e21d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a0090ef9b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a0090ef9b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a0090ef9b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7a0090ef9b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a0090ef9b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7a0090ef9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a0090ef9b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7a0090ef9b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a0090ef9b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a0090ef9b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b14e21dee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7b14e21dee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a0090ef9b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7a0090ef9b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b14e21dee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7b14e21dee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a0090ef9b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a0090ef9b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b14e21dee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b14e21dee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a0090ef9b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7a0090ef9b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a0090ef9b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7a0090ef9b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a0090ef9b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a0090ef9b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b14e21dee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b14e21de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b14e21dee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7b14e21dee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b14e21dee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7b14e21dee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b14e21dee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7b14e21dee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b14e21dee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7b14e21dee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7b14e21dee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7b14e21dee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7b14e21dee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7b14e21dee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7b14e21dee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7b14e21dee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e5a926b78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e5a926b78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35300" y="238125"/>
            <a:ext cx="8520600" cy="169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Функции и объекты в JavaScript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422325" y="2877900"/>
            <a:ext cx="44508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Программирование на JavaScript</a:t>
            </a:r>
            <a:br>
              <a:rPr lang="ru" sz="4291"/>
            </a:br>
            <a:r>
              <a:rPr lang="ru" sz="4291"/>
              <a:t>Преподаватель: Исанькин М.А.</a:t>
            </a:r>
            <a:br>
              <a:rPr lang="ru" sz="4291"/>
            </a:br>
            <a:br>
              <a:rPr lang="ru" sz="4291"/>
            </a:br>
            <a:r>
              <a:rPr lang="ru" sz="4291"/>
              <a:t>09.03.01 ИВТ ПИТТП</a:t>
            </a:r>
            <a:endParaRPr sz="4291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Группа 6310</a:t>
            </a:r>
            <a:br>
              <a:rPr lang="ru"/>
            </a:br>
            <a:br>
              <a:rPr lang="ru"/>
            </a:br>
            <a:r>
              <a:rPr lang="ru" sz="4291"/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27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Объявление и вызов функции (Function Declaration)</a:t>
            </a:r>
            <a:endParaRPr/>
          </a:p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394675" y="2587625"/>
            <a:ext cx="7708500" cy="163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Объявление функции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greetUser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 timeOfDay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`Добрый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timeOfDay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!`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Вызов функции (можно много раз!)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greetUser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"Анна"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"вечер"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Добрый вечер, Анна!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greetUser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"Борис"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"день"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Добрый день, Борис!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60650" y="854450"/>
            <a:ext cx="7586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Ключевое слово function.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Имя функции.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Параметры (в скобках, через запятую).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Тело функции (в фигурных скобках {}).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Вызов функции по имени с аргументами.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27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Возврат значения (return)</a:t>
            </a:r>
            <a:endParaRPr/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381050" y="1703175"/>
            <a:ext cx="8320800" cy="251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 b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result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a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b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result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Возвращаем результат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"Этот код не выполнится"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total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Результат работы функции записывается в total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total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8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Более короткая запись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multiply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 b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a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b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multiply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15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11700" y="718375"/>
            <a:ext cx="7586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Инструкция return возвращает результат работы функции.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Код после return не выполняется.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Если return отсутствует, функция возвращает undefined.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181250" y="70825"/>
            <a:ext cx="8520600" cy="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Function Expression и Стрелочные функции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(Arrow Functions)</a:t>
            </a:r>
            <a:endParaRPr/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381050" y="1744000"/>
            <a:ext cx="8320800" cy="2484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Function Expression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sayHello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`Hello,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Стрелочная функция (полный вариант)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sayHelloAgain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`Hello again,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Стрелочная функция (сокращенный вариант, если тело одно выражение)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double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n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return подразумевается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311700" y="949700"/>
            <a:ext cx="758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Function Expression: Присваивание функции переменной.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Стрелочные функции: Современный краткий синтаксис (=&gt;).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181250" y="70825"/>
            <a:ext cx="8520600" cy="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Области видимости (Scope)</a:t>
            </a:r>
            <a:endParaRPr/>
          </a:p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347050" y="2313225"/>
            <a:ext cx="8320800" cy="193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globalVar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"Я глобальная"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Глобальная область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myFunction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localVar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"Я локальная"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Локальная область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globalVar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OK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localVar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OK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globalVar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OK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console.log(localVar); // ОШИБКА! localVar не видна снаружи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304875" y="684350"/>
            <a:ext cx="7586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Глобальная область видимости: Переменные объявлены вне всех функций. Видны везде.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Локальная область видимости: Переменные объявлены внутри функции. Видны только внутри нее.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let и const имеют блочную область видимости ({}).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975" y="600225"/>
            <a:ext cx="7620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181250" y="70825"/>
            <a:ext cx="8520600" cy="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Замыкания (Closures)</a:t>
            </a:r>
            <a:endParaRPr/>
          </a:p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340425" y="2566100"/>
            <a:ext cx="8320800" cy="19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createCounter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count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Эта переменная - "приватная"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count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++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count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counter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createCounter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counter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1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counter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2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У нас нет прямого доступа к переменной count извне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271775" y="561375"/>
            <a:ext cx="7586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Функция + ее лексическое окружение = Замыкание.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Функция "помнит" переменные из той области видимости, где она была создана, даже после того, как внешняя функция завершила работу.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Мощный инструмент для создания приватных переменных и каррирования.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181250" y="70825"/>
            <a:ext cx="85206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Каррирование (Currying)</a:t>
            </a:r>
            <a:endParaRPr/>
          </a:p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8" name="Google Shape;108;p20"/>
          <p:cNvSpPr txBox="1"/>
          <p:nvPr/>
        </p:nvSpPr>
        <p:spPr>
          <a:xfrm>
            <a:off x="347050" y="1585475"/>
            <a:ext cx="8320800" cy="3525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Обычная функция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multiply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 b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 c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a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b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c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Каррированная версия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curriedMultiply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c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a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b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c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Вызов обычной функции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multiply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24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Вызов каррированной (несколько вариантов)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curriedMultiply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)(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)(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24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multiplyByTwo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curriedMultiply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Специализированная функция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multiplyByTwoAndThree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multiplyByTwo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multiplyByTwoAndThree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24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multiplyByTwoAndThree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30 (2 * 3 * 5)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325900" y="518800"/>
            <a:ext cx="8363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ru" sz="1600">
                <a:solidFill>
                  <a:schemeClr val="dk2"/>
                </a:solidFill>
              </a:rPr>
              <a:t>Каррирование — это трансформация функции от многих аргументов в последовательность функций, каждая от одного аргумента.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ru" sz="1600">
                <a:solidFill>
                  <a:schemeClr val="dk2"/>
                </a:solidFill>
              </a:rPr>
              <a:t>Реализуется через замыкания.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ru" sz="1600">
                <a:solidFill>
                  <a:schemeClr val="dk2"/>
                </a:solidFill>
              </a:rPr>
              <a:t>Позволяет создавать специализированные функции на основе более общих.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181250" y="70825"/>
            <a:ext cx="8520600" cy="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Введение в объекты</a:t>
            </a:r>
            <a:endParaRPr/>
          </a:p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16" name="Google Shape;116;p21"/>
          <p:cNvSpPr txBox="1"/>
          <p:nvPr/>
        </p:nvSpPr>
        <p:spPr>
          <a:xfrm>
            <a:off x="347050" y="2408475"/>
            <a:ext cx="8320800" cy="167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Создание объекта с помощью литерала {}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user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"Иван"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свойство 'name' со значением "Иван"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25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свойство 'age' со значением 25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isStudent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свойство 'isStudent' со значением true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sayHi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метод (свойство-функция)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`Привет, меня зовут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304875" y="684350"/>
            <a:ext cx="7586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Объект — это коллекция пар ключ: значение.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Ключ (название свойства) — это строка.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Значение может быть любого типа: число, строка, массив, другая функция, другой объект.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Используются для описания сущностей реального мира.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181250" y="0"/>
            <a:ext cx="8520600" cy="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Работа со свойствами объекта</a:t>
            </a:r>
            <a:endParaRPr/>
          </a:p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4" name="Google Shape;124;p22"/>
          <p:cNvSpPr txBox="1"/>
          <p:nvPr/>
        </p:nvSpPr>
        <p:spPr>
          <a:xfrm>
            <a:off x="381050" y="2276050"/>
            <a:ext cx="8320800" cy="267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book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"JavaScript для чайников"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author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"Джон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Доу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Получение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book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title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"JavaScript для чайников"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book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'author'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"Джон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Доу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key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'title'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book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"JavaScript для чайников" (работает!)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Изменение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book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title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"Современный JavaScript"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Добавление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book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pages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345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Удаление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delete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book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author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25" name="Google Shape;125;p22"/>
          <p:cNvSpPr txBox="1"/>
          <p:nvPr/>
        </p:nvSpPr>
        <p:spPr>
          <a:xfrm>
            <a:off x="298250" y="379800"/>
            <a:ext cx="7586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Получение значения: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ru" sz="1800">
                <a:solidFill>
                  <a:schemeClr val="dk2"/>
                </a:solidFill>
              </a:rPr>
              <a:t>Через точку: object.key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ru" sz="1800">
                <a:solidFill>
                  <a:schemeClr val="dk2"/>
                </a:solidFill>
              </a:rPr>
              <a:t>Через квадратные скобки: object['key'] (полезно, если ключ хранится в переменной)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Изменение/добавление свойства: object.key = value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Удаление свойства: delete object.key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181250" y="70825"/>
            <a:ext cx="8520600" cy="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Классы: шаблоны для объектов</a:t>
            </a:r>
            <a:endParaRPr/>
          </a:p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32" name="Google Shape;132;p23"/>
          <p:cNvSpPr txBox="1"/>
          <p:nvPr/>
        </p:nvSpPr>
        <p:spPr>
          <a:xfrm>
            <a:off x="304875" y="684350"/>
            <a:ext cx="75861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Объект — это конкретный экземпляр с данными (user = {name: "Анна"}).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Класс — это общий шаблон (чертеж) для создания множества однотипных объектов.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Класс описывает, какие свойства и методы будут у объектов, созданных на его основе.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Синтаксис классов в JS (class) — это "синтаксический сахар" над существующей прототипной моделью наследования (об этом подробнее позже).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181250" y="70825"/>
            <a:ext cx="8520600" cy="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Классы: шаблоны для объектов</a:t>
            </a:r>
            <a:endParaRPr/>
          </a:p>
        </p:txBody>
      </p:sp>
      <p:sp>
        <p:nvSpPr>
          <p:cNvPr id="138" name="Google Shape;13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39" name="Google Shape;139;p24"/>
          <p:cNvSpPr txBox="1"/>
          <p:nvPr/>
        </p:nvSpPr>
        <p:spPr>
          <a:xfrm>
            <a:off x="281150" y="566425"/>
            <a:ext cx="8320800" cy="453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Раньше мы создавали каждый объект вручную: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user1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"Анна"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25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isAdmin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user2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"Борис"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30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isAdmin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Это неэффективно, если объектов много и у них одинаковая структура.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Класс - это чертеж для создания пользователей: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Имя класса принято писать с большой буквы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constructor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 age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 isAdmin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Конструктор вызывается при создании нового объекта (new User())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Он инициализирует свойства объекта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name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age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age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isAdmin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isAdmin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Метод, который будет у всех объектов, созданных от этого класса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greet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`Привет, меня зовут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Создание объектов (экземпляров класса) с помощью оператора new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user3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"Анна"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25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isAdmin будет false по умолчанию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user4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"Борис"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30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user3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greet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"Привет, меня зовут Анна"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user4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greet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"Привет, меня зовут Борис"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user3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instanceof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true (user3 создан от класса User)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161400" y="150275"/>
            <a:ext cx="8520600" cy="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Классы: геттеры, сеттеры и статические методы</a:t>
            </a:r>
            <a:endParaRPr/>
          </a:p>
        </p:txBody>
      </p:sp>
      <p:sp>
        <p:nvSpPr>
          <p:cNvPr id="145" name="Google Shape;14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6" name="Google Shape;146;p25"/>
          <p:cNvSpPr txBox="1"/>
          <p:nvPr/>
        </p:nvSpPr>
        <p:spPr>
          <a:xfrm>
            <a:off x="251875" y="922725"/>
            <a:ext cx="7586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Геттеры (get): "Функции"-свойства для чтения значения.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Сеттеры (set): "Функции"-свойства для безопасного установления значения с проверками.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Статические методы (static): Методы, принадлежащие самому классу, а не его экземплярам. Вызываются через имя класс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181250" y="70825"/>
            <a:ext cx="8520600" cy="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Классы: геттеры, сеттеры и статические методы</a:t>
            </a:r>
            <a:endParaRPr/>
          </a:p>
        </p:txBody>
      </p:sp>
      <p:sp>
        <p:nvSpPr>
          <p:cNvPr id="152" name="Google Shape;15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53" name="Google Shape;153;p26"/>
          <p:cNvSpPr txBox="1"/>
          <p:nvPr/>
        </p:nvSpPr>
        <p:spPr>
          <a:xfrm>
            <a:off x="281150" y="618775"/>
            <a:ext cx="8320800" cy="4366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constructor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firstName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 lastName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firstName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firstName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lastName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lastName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Геттер (вызывается как user.fullName, без скобок!)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get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fullName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firstName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lastName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Сеттер (вызывается при присваивании user.fullName = ...)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set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fullName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newValue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firstName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lastName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newValue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split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 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Статический метод (вызывается через User.createGuest())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createGuest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"Гость"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"Анонимный"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Использование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user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"Иван"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"Петров"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fullName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"Иван Петров" (работает геттер)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fullName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"Алексей Сидоров"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Работает сеттер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firstName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"Алексей"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guest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createGuest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Вызов статического метода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guest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fullName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"Гость Анонимный"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181250" y="70825"/>
            <a:ext cx="8520600" cy="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Наследование классов (extends, super)</a:t>
            </a:r>
            <a:endParaRPr/>
          </a:p>
        </p:txBody>
      </p:sp>
      <p:sp>
        <p:nvSpPr>
          <p:cNvPr id="159" name="Google Shape;15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60" name="Google Shape;160;p27"/>
          <p:cNvSpPr txBox="1"/>
          <p:nvPr/>
        </p:nvSpPr>
        <p:spPr>
          <a:xfrm>
            <a:off x="304875" y="684350"/>
            <a:ext cx="7586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Ключевое слово extends: позволяет классу-потомку наследовать от другого класса-родителя.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Ключевое слово super: используется для вызова конструктора и методов родительского класса.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Позволяет избежать дублирования кода и создавать иерархии.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66" name="Google Shape;166;p28"/>
          <p:cNvSpPr txBox="1"/>
          <p:nvPr/>
        </p:nvSpPr>
        <p:spPr>
          <a:xfrm>
            <a:off x="261275" y="77750"/>
            <a:ext cx="8320800" cy="4871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Базовый (родительский) класс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Animal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constructor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name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speed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run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speed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speed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speed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 бежит со скоростью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speed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.`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Наследник (дочерний класс)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Cat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extends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Animal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extends - наследует от Animal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constructor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 owner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super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super() - вызывает конструктор родителя (Animal)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owner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owner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meow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 говорит Мяу!`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Можно переопределить метод родителя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run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speed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super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run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speed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Используем часть логики родителя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"И делает это изящно!"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myCat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Cat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"Барсик"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"Мария"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myCat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meow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"Барсик говорит Мяу!" (собственный метод)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myCat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run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"Барсик бежит со скоростью 10." (переопределенный метод)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181250" y="70825"/>
            <a:ext cx="8520600" cy="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Массивы (Array)</a:t>
            </a:r>
            <a:endParaRPr/>
          </a:p>
        </p:txBody>
      </p:sp>
      <p:sp>
        <p:nvSpPr>
          <p:cNvPr id="172" name="Google Shape;17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73" name="Google Shape;173;p29"/>
          <p:cNvSpPr txBox="1"/>
          <p:nvPr/>
        </p:nvSpPr>
        <p:spPr>
          <a:xfrm>
            <a:off x="347050" y="1977350"/>
            <a:ext cx="8320800" cy="193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fruits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'Яблоко'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'Апельсин'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'Слива'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];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Создание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fruits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'Яблоко' (доступ по индексу)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fruits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length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3 (длина массива)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fruits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'Груша'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Изменение элемента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fruits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'Лимон'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Добавление элемента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В массиве могут быть элементы разных типов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randomArray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'Hello'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'Bob'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];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74" name="Google Shape;174;p29"/>
          <p:cNvSpPr txBox="1"/>
          <p:nvPr/>
        </p:nvSpPr>
        <p:spPr>
          <a:xfrm>
            <a:off x="270850" y="684350"/>
            <a:ext cx="7586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Массив — это упорядоченный список данных (частный случай объекта).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Элементы массива имеют числовые индексы (начинаются с 0).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Создание: const arr = [1, 2, 3];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181250" y="70825"/>
            <a:ext cx="8520600" cy="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методы массивов</a:t>
            </a:r>
            <a:endParaRPr/>
          </a:p>
        </p:txBody>
      </p:sp>
      <p:sp>
        <p:nvSpPr>
          <p:cNvPr id="180" name="Google Shape;18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81" name="Google Shape;181;p30"/>
          <p:cNvSpPr txBox="1"/>
          <p:nvPr/>
        </p:nvSpPr>
        <p:spPr>
          <a:xfrm>
            <a:off x="347050" y="1977350"/>
            <a:ext cx="8320800" cy="2632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companies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'Apple'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'Google'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];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companies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push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'Amazon'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'Microsoft'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['Apple', 'Google', 'Amazon', 'Microsoft']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lastCompany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companies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pop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Удалили 'Microsoft'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lastCompany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'Microsoft'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firstCompany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companies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shift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Удалили 'Apple'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firstCompany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'Apple'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companies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unshift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'Tesla'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['Tesla', 'Google', 'Amazon']</a:t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82" name="Google Shape;182;p30"/>
          <p:cNvSpPr txBox="1"/>
          <p:nvPr/>
        </p:nvSpPr>
        <p:spPr>
          <a:xfrm>
            <a:off x="270850" y="684350"/>
            <a:ext cx="7586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push(...items) – добавляет элементы в конец.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pop() – удаляет последний элемент и возвращает его.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shift() – удаляет первый элемент и возвращает его.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unshift(...items) – добавляет элементы в начало.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181250" y="70825"/>
            <a:ext cx="8520600" cy="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Перебор массивов: for и for...of</a:t>
            </a:r>
            <a:endParaRPr/>
          </a:p>
        </p:txBody>
      </p:sp>
      <p:sp>
        <p:nvSpPr>
          <p:cNvPr id="188" name="Google Shape;18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89" name="Google Shape;189;p31"/>
          <p:cNvSpPr txBox="1"/>
          <p:nvPr/>
        </p:nvSpPr>
        <p:spPr>
          <a:xfrm>
            <a:off x="347050" y="1977350"/>
            <a:ext cx="8320800" cy="2517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fruits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'Яблоко'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'Апельсин'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'Слива'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];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Классический for (если нужен индекс)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i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fruits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length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i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++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fruits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]}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Современный for...of (если нужен только элемент)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fruit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of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fruits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fruit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'Яблоко'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'Апельсин'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'Слива'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90" name="Google Shape;190;p31"/>
          <p:cNvSpPr txBox="1"/>
          <p:nvPr/>
        </p:nvSpPr>
        <p:spPr>
          <a:xfrm>
            <a:off x="270850" y="684350"/>
            <a:ext cx="7586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for – классический цикл с индексом.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for...of – современный и лаконичный цикл для перебора элементов.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type="title"/>
          </p:nvPr>
        </p:nvSpPr>
        <p:spPr>
          <a:xfrm>
            <a:off x="181250" y="70825"/>
            <a:ext cx="8520600" cy="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Перебор массивов: </a:t>
            </a:r>
            <a:r>
              <a:rPr lang="ru"/>
              <a:t>forEach - итерация по элементам</a:t>
            </a:r>
            <a:endParaRPr/>
          </a:p>
        </p:txBody>
      </p:sp>
      <p:sp>
        <p:nvSpPr>
          <p:cNvPr id="196" name="Google Shape;19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97" name="Google Shape;197;p32"/>
          <p:cNvSpPr txBox="1"/>
          <p:nvPr/>
        </p:nvSpPr>
        <p:spPr>
          <a:xfrm>
            <a:off x="347050" y="1977350"/>
            <a:ext cx="8320800" cy="2993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fruits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'apple'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'banana'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'orange'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Вывод каждого элемента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fruits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forEach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fruit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 index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console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index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fruit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Использование стрелочной функции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fruits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forEach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fruit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 index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console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`Фрукт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index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fruit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Результат: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1. apple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2. banana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3. orange</a:t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8" name="Google Shape;198;p32"/>
          <p:cNvSpPr txBox="1"/>
          <p:nvPr/>
        </p:nvSpPr>
        <p:spPr>
          <a:xfrm>
            <a:off x="270850" y="684350"/>
            <a:ext cx="7586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Выполняет функцию для каждого элемента массива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Не возвращает значение (undefined)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Альтернатива циклу for для простого перебора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181250" y="70825"/>
            <a:ext cx="8520600" cy="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Перебор массивов: </a:t>
            </a:r>
            <a:r>
              <a:rPr lang="ru"/>
              <a:t>map - преобразование массива</a:t>
            </a:r>
            <a:endParaRPr/>
          </a:p>
        </p:txBody>
      </p:sp>
      <p:sp>
        <p:nvSpPr>
          <p:cNvPr id="204" name="Google Shape;20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05" name="Google Shape;205;p33"/>
          <p:cNvSpPr txBox="1"/>
          <p:nvPr/>
        </p:nvSpPr>
        <p:spPr>
          <a:xfrm>
            <a:off x="281150" y="1503300"/>
            <a:ext cx="8320800" cy="3386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numbers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Умножение каждого элемента на 2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doubled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numbers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number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doubled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[2, 4, 6, 8, 10]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Создание массива объектов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users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'Alice'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'Bob'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'Charlie'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userObjects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users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 index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index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name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userObjects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[{id: 1, name: 'Alice'}, {id: 2, name: 'Bob'}, ...]</a:t>
            </a:r>
            <a:endParaRPr sz="1000">
              <a:solidFill>
                <a:srgbClr val="E9AE7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6" name="Google Shape;206;p33"/>
          <p:cNvSpPr txBox="1"/>
          <p:nvPr/>
        </p:nvSpPr>
        <p:spPr>
          <a:xfrm>
            <a:off x="277475" y="570900"/>
            <a:ext cx="7586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Создает новый массив, преобразуя каждый элемент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Не изменяет исходный массив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Возвращает массив той же длины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/>
          <p:nvPr>
            <p:ph type="title"/>
          </p:nvPr>
        </p:nvSpPr>
        <p:spPr>
          <a:xfrm>
            <a:off x="181250" y="70825"/>
            <a:ext cx="8520600" cy="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Перебор массивов: </a:t>
            </a:r>
            <a:r>
              <a:rPr lang="ru"/>
              <a:t>filter - фильтрация элементов</a:t>
            </a:r>
            <a:endParaRPr/>
          </a:p>
        </p:txBody>
      </p:sp>
      <p:sp>
        <p:nvSpPr>
          <p:cNvPr id="212" name="Google Shape;21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13" name="Google Shape;213;p34"/>
          <p:cNvSpPr txBox="1"/>
          <p:nvPr/>
        </p:nvSpPr>
        <p:spPr>
          <a:xfrm>
            <a:off x="307650" y="1971225"/>
            <a:ext cx="8320800" cy="2624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numbers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Фильтрация четных чисел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evenNumbers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numbers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filter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number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%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===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evenNumbers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[2, 4, 6, 8, 10]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Фильтрация по длине строки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words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'apple'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'banana'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'kiwi'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'orange'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'pear'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longWords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words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filter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word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word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length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longWords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['apple', 'banana', 'orange']</a:t>
            </a:r>
            <a:endParaRPr sz="1000">
              <a:solidFill>
                <a:srgbClr val="E9AE7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4" name="Google Shape;214;p34"/>
          <p:cNvSpPr txBox="1"/>
          <p:nvPr/>
        </p:nvSpPr>
        <p:spPr>
          <a:xfrm>
            <a:off x="281150" y="610625"/>
            <a:ext cx="7586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Создает новый массив с элементами, прошедшими проверку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Возвращает только те элементы, для которых callback вернул true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Не изменяет исходный массив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181250" y="70825"/>
            <a:ext cx="8520600" cy="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Перебор массивов: </a:t>
            </a:r>
            <a:r>
              <a:rPr lang="ru"/>
              <a:t>reduce - аккумуляция значений</a:t>
            </a:r>
            <a:endParaRPr/>
          </a:p>
        </p:txBody>
      </p:sp>
      <p:sp>
        <p:nvSpPr>
          <p:cNvPr id="220" name="Google Shape;22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1" name="Google Shape;221;p35"/>
          <p:cNvSpPr txBox="1"/>
          <p:nvPr/>
        </p:nvSpPr>
        <p:spPr>
          <a:xfrm>
            <a:off x="307650" y="1759350"/>
            <a:ext cx="8320800" cy="3386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numbers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Сумма всех элементов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sum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numbers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reduce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accumulator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 currentValue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accumulator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currentValue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15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Подсчет количества элементов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fruits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'apple'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'banana'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'apple'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'orange'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'banana'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'apple'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count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fruits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reduce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acc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 fruit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acc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fruit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acc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fruit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||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acc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{});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{apple: 3, banana: 2, orange: 1}</a:t>
            </a:r>
            <a:endParaRPr sz="1000">
              <a:solidFill>
                <a:srgbClr val="E9AE7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" name="Google Shape;222;p35"/>
          <p:cNvSpPr txBox="1"/>
          <p:nvPr/>
        </p:nvSpPr>
        <p:spPr>
          <a:xfrm>
            <a:off x="307650" y="544400"/>
            <a:ext cx="7586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Преобразует массив в другой элемент (число, строку, объект, массив)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Принимает аккумулятор и текущее значение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Можно указать начальное значение аккумулятора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type="title"/>
          </p:nvPr>
        </p:nvSpPr>
        <p:spPr>
          <a:xfrm>
            <a:off x="181250" y="70825"/>
            <a:ext cx="8520600" cy="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Цепочки методов</a:t>
            </a:r>
            <a:endParaRPr/>
          </a:p>
        </p:txBody>
      </p:sp>
      <p:sp>
        <p:nvSpPr>
          <p:cNvPr id="228" name="Google Shape;22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9" name="Google Shape;229;p36"/>
          <p:cNvSpPr txBox="1"/>
          <p:nvPr/>
        </p:nvSpPr>
        <p:spPr>
          <a:xfrm>
            <a:off x="281150" y="610625"/>
            <a:ext cx="7586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Методы можно комбинировать в цепочки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Каждый метод возвращает массив (кроме reduce)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Позволяет писать понятный и красивый код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35" name="Google Shape;235;p37"/>
          <p:cNvSpPr txBox="1"/>
          <p:nvPr/>
        </p:nvSpPr>
        <p:spPr>
          <a:xfrm>
            <a:off x="208325" y="146725"/>
            <a:ext cx="8320800" cy="4910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products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'Laptop'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price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1000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category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'electronics'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'Phone'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price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500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category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'electronics'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'Book'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price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category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'education'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'Pen'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price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category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'education'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'TV'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price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1500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category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'electronics'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Цепочка методов: фильтрация -&gt; преобразование -&gt; сортировка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expensiveElectronicProducts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products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filter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product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product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category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===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'electronics'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filter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product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product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price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600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product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product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toUpperCase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(),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price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product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price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1.2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Добавляем НДС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}))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sort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price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a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price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Сортировка по убыванию цены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expensiveElectronicProducts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[{name: 'TV', price: 1800}, {name: 'LAPTOP', price: 1200}]</a:t>
            </a:r>
            <a:endParaRPr sz="1000">
              <a:solidFill>
                <a:srgbClr val="8DA1B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9AE7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type="title"/>
          </p:nvPr>
        </p:nvSpPr>
        <p:spPr>
          <a:xfrm>
            <a:off x="181250" y="70825"/>
            <a:ext cx="8520600" cy="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Другие полезные методы массивов</a:t>
            </a:r>
            <a:endParaRPr/>
          </a:p>
        </p:txBody>
      </p:sp>
      <p:sp>
        <p:nvSpPr>
          <p:cNvPr id="241" name="Google Shape;24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2" name="Google Shape;242;p38"/>
          <p:cNvSpPr txBox="1"/>
          <p:nvPr/>
        </p:nvSpPr>
        <p:spPr>
          <a:xfrm>
            <a:off x="281150" y="610625"/>
            <a:ext cx="7586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find() - поиск первого элемента, удовлетворяющего условию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some() - проверка, удовлетворяет ли хотя бы один элемент условию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every() - проверка, удовлетворяют ли все элементы условию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sort() - сортировка элементов (изменяет исходный массив!)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8" name="Google Shape;248;p39"/>
          <p:cNvSpPr txBox="1"/>
          <p:nvPr/>
        </p:nvSpPr>
        <p:spPr>
          <a:xfrm>
            <a:off x="234800" y="146725"/>
            <a:ext cx="8320800" cy="4910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numbers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Поиск первого четного числа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firstEven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numbers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find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num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%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===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firstEven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2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Проверка наличия хотя бы одного отрицательного числа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hasNegative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numbers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some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num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hasNegative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false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Проверка, все ли числа положительные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allPositive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numbers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every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num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allPositive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true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Сортировка (мутирует исходный массив!)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unsorted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sorted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unsorted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].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sort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Копируем массив перед сортировкой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sorted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[1, 1, 2, 3, 4, 5, 6, 9]</a:t>
            </a:r>
            <a:endParaRPr sz="1000">
              <a:solidFill>
                <a:srgbClr val="8DA1B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9AE7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1600" y="390650"/>
            <a:ext cx="5894851" cy="4421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0"/>
          <p:cNvSpPr txBox="1"/>
          <p:nvPr/>
        </p:nvSpPr>
        <p:spPr>
          <a:xfrm>
            <a:off x="411025" y="352325"/>
            <a:ext cx="221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Вопросы?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
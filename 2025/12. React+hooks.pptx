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93ef6f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c93ef6f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93ef6f6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c93ef6f6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99c73c4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99c73c4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99c73c41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99c73c41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99c73c41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99c73c41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5828e3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5828e3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9c73c41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9c73c41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99c73c41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99c73c41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99c73c41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99c73c41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9c73c41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99c73c41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99c73c41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99c73c41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</a:t>
            </a:r>
            <a:br>
              <a:rPr lang="ru"/>
            </a:br>
            <a:r>
              <a:rPr lang="ru"/>
              <a:t>hooks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useState и useEffect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32525" y="590300"/>
            <a:ext cx="690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useState </a:t>
            </a:r>
            <a:r>
              <a:rPr lang="ru" sz="1750">
                <a:solidFill>
                  <a:srgbClr val="595959"/>
                </a:solidFill>
              </a:rPr>
              <a:t>— управление состоянием компонента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useEffect </a:t>
            </a:r>
            <a:r>
              <a:rPr lang="ru" sz="1750">
                <a:solidFill>
                  <a:srgbClr val="595959"/>
                </a:solidFill>
              </a:rPr>
              <a:t>— побочные эффекты и жизненный цикл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Правила хуков — только на верхнем уровне, только в React функциях</a:t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00" y="1852400"/>
            <a:ext cx="5654909" cy="29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useState и useEffect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232525" y="590300"/>
            <a:ext cx="690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useState </a:t>
            </a:r>
            <a:r>
              <a:rPr lang="ru" sz="1750">
                <a:solidFill>
                  <a:srgbClr val="595959"/>
                </a:solidFill>
              </a:rPr>
              <a:t>— управление состоянием компонента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useEffect </a:t>
            </a:r>
            <a:r>
              <a:rPr lang="ru" sz="1750">
                <a:solidFill>
                  <a:srgbClr val="595959"/>
                </a:solidFill>
              </a:rPr>
              <a:t>— побочные эффекты и жизненный цикл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lang="ru" sz="1750">
                <a:solidFill>
                  <a:srgbClr val="595959"/>
                </a:solidFill>
              </a:rPr>
              <a:t>Правила хуков — только на верхнем уровне, только в React функциях</a:t>
            </a:r>
            <a:endParaRPr sz="1750">
              <a:solidFill>
                <a:srgbClr val="595959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00" y="1852400"/>
            <a:ext cx="5654909" cy="29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300" y="208350"/>
            <a:ext cx="6140701" cy="47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производительности в React</a:t>
            </a:r>
            <a:endParaRPr/>
          </a:p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232525" y="590300"/>
            <a:ext cx="6906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Лишние ре-рендеры — </a:t>
            </a:r>
            <a:r>
              <a:rPr lang="ru" sz="1750">
                <a:solidFill>
                  <a:srgbClr val="595959"/>
                </a:solidFill>
              </a:rPr>
              <a:t>компоненты перерисовываются без необходимости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Тяжелые вычисления — </a:t>
            </a:r>
            <a:r>
              <a:rPr lang="ru" sz="1750">
                <a:solidFill>
                  <a:srgbClr val="595959"/>
                </a:solidFill>
              </a:rPr>
              <a:t>сложные операции на каждом рендере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Большие бандлы — </a:t>
            </a:r>
            <a:r>
              <a:rPr lang="ru" sz="1750">
                <a:solidFill>
                  <a:srgbClr val="595959"/>
                </a:solidFill>
              </a:rPr>
              <a:t>медленная загрузка приложения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Память — </a:t>
            </a:r>
            <a:r>
              <a:rPr lang="ru" sz="1750">
                <a:solidFill>
                  <a:srgbClr val="595959"/>
                </a:solidFill>
              </a:rPr>
              <a:t>утечки памяти и неоптимизированные структуры данных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Признаки проблем с производительностью:</a:t>
            </a:r>
            <a:endParaRPr b="1"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-🐌 Медленный интерфейс при взаимодействии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-⏳ Долгая первоначальная загрузка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-📱 Задержки на мобильных устройствах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50">
                <a:solidFill>
                  <a:srgbClr val="595959"/>
                </a:solidFill>
              </a:rPr>
              <a:t>- </a:t>
            </a:r>
            <a:r>
              <a:rPr lang="ru" sz="1750">
                <a:solidFill>
                  <a:srgbClr val="595959"/>
                </a:solidFill>
              </a:rPr>
              <a:t>🔄 Ли</a:t>
            </a:r>
            <a:r>
              <a:rPr lang="ru" sz="1750">
                <a:solidFill>
                  <a:srgbClr val="595959"/>
                </a:solidFill>
              </a:rPr>
              <a:t>шние анимации и мерцания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Профилирование производительности</a:t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232525" y="590300"/>
            <a:ext cx="6906600" cy="3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React DevTools Profiler </a:t>
            </a:r>
            <a:r>
              <a:rPr lang="ru" sz="1750">
                <a:solidFill>
                  <a:srgbClr val="595959"/>
                </a:solidFill>
              </a:rPr>
              <a:t>— встроенный инструмент профилирования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Измерение рендеров </a:t>
            </a:r>
            <a:r>
              <a:rPr lang="ru" sz="1750">
                <a:solidFill>
                  <a:srgbClr val="595959"/>
                </a:solidFill>
              </a:rPr>
              <a:t>— какие компоненты и как долго </a:t>
            </a:r>
            <a:r>
              <a:rPr b="1" lang="ru" sz="1750">
                <a:solidFill>
                  <a:srgbClr val="595959"/>
                </a:solidFill>
              </a:rPr>
              <a:t>рендерятся</a:t>
            </a:r>
            <a:endParaRPr b="1"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Анализ причин </a:t>
            </a:r>
            <a:r>
              <a:rPr lang="ru" sz="1750">
                <a:solidFill>
                  <a:srgbClr val="595959"/>
                </a:solidFill>
              </a:rPr>
              <a:t>— почему компоненты ре-рендерятся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Char char="●"/>
            </a:pPr>
            <a:r>
              <a:rPr b="1" lang="ru" sz="1750">
                <a:solidFill>
                  <a:srgbClr val="595959"/>
                </a:solidFill>
              </a:rPr>
              <a:t>Оптимизация </a:t>
            </a:r>
            <a:r>
              <a:rPr lang="ru" sz="1750">
                <a:solidFill>
                  <a:srgbClr val="595959"/>
                </a:solidFill>
              </a:rPr>
              <a:t>— на основе данных измерений</a:t>
            </a:r>
            <a:endParaRPr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50">
              <a:solidFill>
                <a:srgbClr val="595959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50">
                <a:solidFill>
                  <a:srgbClr val="595959"/>
                </a:solidFill>
              </a:rPr>
              <a:t>Использование React DevTools Profiler:</a:t>
            </a:r>
            <a:endParaRPr b="1"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AutoNum type="arabicPeriod"/>
            </a:pPr>
            <a:r>
              <a:rPr lang="ru" sz="1750">
                <a:solidFill>
                  <a:srgbClr val="595959"/>
                </a:solidFill>
              </a:rPr>
              <a:t>Установите React DevTools расширение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AutoNum type="arabicPeriod"/>
            </a:pPr>
            <a:r>
              <a:rPr lang="ru" sz="1750">
                <a:solidFill>
                  <a:srgbClr val="595959"/>
                </a:solidFill>
              </a:rPr>
              <a:t>Откройте вкладку "Profiler"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AutoNum type="arabicPeriod"/>
            </a:pPr>
            <a:r>
              <a:rPr lang="ru" sz="1750">
                <a:solidFill>
                  <a:srgbClr val="595959"/>
                </a:solidFill>
              </a:rPr>
              <a:t>Нажмите "Record"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AutoNum type="arabicPeriod"/>
            </a:pPr>
            <a:r>
              <a:rPr lang="ru" sz="1750">
                <a:solidFill>
                  <a:srgbClr val="595959"/>
                </a:solidFill>
              </a:rPr>
              <a:t>Взаимодействуйте с приложением</a:t>
            </a:r>
            <a:endParaRPr sz="1750">
              <a:solidFill>
                <a:srgbClr val="595959"/>
              </a:solidFill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750"/>
              <a:buAutoNum type="arabicPeriod"/>
            </a:pPr>
            <a:r>
              <a:rPr lang="ru" sz="1750">
                <a:solidFill>
                  <a:srgbClr val="595959"/>
                </a:solidFill>
              </a:rPr>
              <a:t>Остановите запись и анализируйте</a:t>
            </a:r>
            <a:endParaRPr sz="175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React.memo - мемоизация компонентов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180650" y="590300"/>
            <a:ext cx="3724200" cy="3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Char char="●"/>
            </a:pPr>
            <a:r>
              <a:rPr b="1" lang="ru" sz="1900">
                <a:solidFill>
                  <a:srgbClr val="595959"/>
                </a:solidFill>
                <a:highlight>
                  <a:srgbClr val="FFFFFF"/>
                </a:highlight>
              </a:rPr>
              <a:t>React.memo</a:t>
            </a:r>
            <a:r>
              <a:rPr lang="ru" sz="1900">
                <a:solidFill>
                  <a:srgbClr val="595959"/>
                </a:solidFill>
                <a:highlight>
                  <a:srgbClr val="FFFFFF"/>
                </a:highlight>
              </a:rPr>
              <a:t> — Higher Order Component для мемоизации</a:t>
            </a:r>
            <a:endParaRPr sz="19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Char char="●"/>
            </a:pPr>
            <a:r>
              <a:rPr b="1" lang="ru" sz="1900">
                <a:solidFill>
                  <a:srgbClr val="595959"/>
                </a:solidFill>
                <a:highlight>
                  <a:srgbClr val="FFFFFF"/>
                </a:highlight>
              </a:rPr>
              <a:t>Поверхностное сравнение</a:t>
            </a:r>
            <a:r>
              <a:rPr lang="ru" sz="1900">
                <a:solidFill>
                  <a:srgbClr val="595959"/>
                </a:solidFill>
                <a:highlight>
                  <a:srgbClr val="FFFFFF"/>
                </a:highlight>
              </a:rPr>
              <a:t> — сравнение props по значению</a:t>
            </a:r>
            <a:endParaRPr sz="19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Char char="●"/>
            </a:pPr>
            <a:r>
              <a:rPr b="1" lang="ru" sz="1900">
                <a:solidFill>
                  <a:srgbClr val="595959"/>
                </a:solidFill>
                <a:highlight>
                  <a:srgbClr val="FFFFFF"/>
                </a:highlight>
              </a:rPr>
              <a:t>Кастомная функция сравнения</a:t>
            </a:r>
            <a:r>
              <a:rPr lang="ru" sz="1900">
                <a:solidFill>
                  <a:srgbClr val="595959"/>
                </a:solidFill>
                <a:highlight>
                  <a:srgbClr val="FFFFFF"/>
                </a:highlight>
              </a:rPr>
              <a:t> — для сложных props</a:t>
            </a:r>
            <a:endParaRPr b="1" sz="2450">
              <a:solidFill>
                <a:srgbClr val="595959"/>
              </a:solidFill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950" y="633575"/>
            <a:ext cx="4641949" cy="381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useMemo - мемоизация значений</a:t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180650" y="590300"/>
            <a:ext cx="3724200" cy="35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Char char="●"/>
            </a:pPr>
            <a:r>
              <a:rPr b="1" lang="ru" sz="1900">
                <a:solidFill>
                  <a:srgbClr val="595959"/>
                </a:solidFill>
                <a:highlight>
                  <a:srgbClr val="FFFFFF"/>
                </a:highlight>
              </a:rPr>
              <a:t>useMemo </a:t>
            </a:r>
            <a:r>
              <a:rPr lang="ru" sz="1900">
                <a:solidFill>
                  <a:srgbClr val="595959"/>
                </a:solidFill>
                <a:highlight>
                  <a:srgbClr val="FFFFFF"/>
                </a:highlight>
              </a:rPr>
              <a:t>— мемоизация результатов тяжелых вычислений</a:t>
            </a:r>
            <a:endParaRPr sz="19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Char char="●"/>
            </a:pPr>
            <a:r>
              <a:rPr b="1" lang="ru" sz="1900">
                <a:solidFill>
                  <a:srgbClr val="595959"/>
                </a:solidFill>
                <a:highlight>
                  <a:srgbClr val="FFFFFF"/>
                </a:highlight>
              </a:rPr>
              <a:t>Кэширование значений </a:t>
            </a:r>
            <a:r>
              <a:rPr lang="ru" sz="1900">
                <a:solidFill>
                  <a:srgbClr val="595959"/>
                </a:solidFill>
                <a:highlight>
                  <a:srgbClr val="FFFFFF"/>
                </a:highlight>
              </a:rPr>
              <a:t>— пересчет только при изменении зависимостей</a:t>
            </a:r>
            <a:endParaRPr sz="19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Font typeface="Arial"/>
              <a:buChar char="●"/>
            </a:pPr>
            <a:r>
              <a:rPr b="1" lang="ru" sz="1900">
                <a:solidFill>
                  <a:srgbClr val="595959"/>
                </a:solidFill>
                <a:highlight>
                  <a:srgbClr val="FFFFFF"/>
                </a:highlight>
              </a:rPr>
              <a:t>Оптимизация производительности </a:t>
            </a:r>
            <a:r>
              <a:rPr lang="ru" sz="1900">
                <a:solidFill>
                  <a:srgbClr val="595959"/>
                </a:solidFill>
                <a:highlight>
                  <a:srgbClr val="FFFFFF"/>
                </a:highlight>
              </a:rPr>
              <a:t>— избегание лишних вычислений</a:t>
            </a:r>
            <a:endParaRPr sz="1900">
              <a:solidFill>
                <a:srgbClr val="59595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useMemo - мемоизация значений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194550" y="770950"/>
            <a:ext cx="6996900" cy="25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Когда использовать useMemo:</a:t>
            </a:r>
            <a:endParaRPr sz="18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✅ Тяжелые вычисления (фильтрация, сортировка)</a:t>
            </a:r>
            <a:endParaRPr sz="18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✅ Создание объектов/массивов, которые передаются как props</a:t>
            </a:r>
            <a:endParaRPr sz="18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✅ Вычисления, зависящие от дорогих операций</a:t>
            </a:r>
            <a:endParaRPr sz="18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❌ Простые примитивные значения</a:t>
            </a:r>
            <a:endParaRPr sz="18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❌ Вычисления, которые быстрее чем мемоизация</a:t>
            </a:r>
            <a:endParaRPr b="1" sz="2500">
              <a:solidFill>
                <a:srgbClr val="59595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useCallback - мемоизация функций</a:t>
            </a:r>
            <a:endParaRPr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194550" y="770950"/>
            <a:ext cx="51765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1" lang="ru" sz="1800">
                <a:solidFill>
                  <a:srgbClr val="595959"/>
                </a:solidFill>
                <a:highlight>
                  <a:srgbClr val="FFFFFF"/>
                </a:highlight>
              </a:rPr>
              <a:t>useCallback </a:t>
            </a: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— мемоизация функций между рендерами</a:t>
            </a:r>
            <a:endParaRPr sz="18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1" lang="ru" sz="1800">
                <a:solidFill>
                  <a:srgbClr val="595959"/>
                </a:solidFill>
                <a:highlight>
                  <a:srgbClr val="FFFFFF"/>
                </a:highlight>
              </a:rPr>
              <a:t>Сохранение ссылки</a:t>
            </a: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 — функция не пересоздается без необходимости</a:t>
            </a:r>
            <a:endParaRPr sz="18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</a:pPr>
            <a:r>
              <a:rPr b="1" lang="ru" sz="1800">
                <a:solidFill>
                  <a:srgbClr val="595959"/>
                </a:solidFill>
                <a:highlight>
                  <a:srgbClr val="FFFFFF"/>
                </a:highlight>
              </a:rPr>
              <a:t>Оптимизация дочерних компонентов</a:t>
            </a:r>
            <a:r>
              <a:rPr lang="ru" sz="1800">
                <a:solidFill>
                  <a:srgbClr val="595959"/>
                </a:solidFill>
                <a:highlight>
                  <a:srgbClr val="FFFFFF"/>
                </a:highlight>
              </a:rPr>
              <a:t> — стабильные props</a:t>
            </a:r>
            <a:endParaRPr sz="1800">
              <a:solidFill>
                <a:srgbClr val="59595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106550"/>
            <a:ext cx="6963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использовать мемоизацию?</a:t>
            </a:r>
            <a:endParaRPr/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7" name="Google Shape;127;p23"/>
          <p:cNvSpPr txBox="1"/>
          <p:nvPr/>
        </p:nvSpPr>
        <p:spPr>
          <a:xfrm>
            <a:off x="311700" y="889075"/>
            <a:ext cx="7441800" cy="3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Используйте мемоизацию когда:</a:t>
            </a:r>
            <a:endParaRPr sz="16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✅ Компонент часто ре-рендерится с одинаковыми props</a:t>
            </a:r>
            <a:endParaRPr sz="16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✅ Тяжелые вычисления занимают &gt; 1ms</a:t>
            </a:r>
            <a:endParaRPr sz="16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✅ Функции/объекты передаются в memo-компоненты</a:t>
            </a:r>
            <a:endParaRPr sz="16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✅ Большие списки или таблицы</a:t>
            </a:r>
            <a:endParaRPr sz="16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Не используйте мемоизацию когда:</a:t>
            </a:r>
            <a:endParaRPr sz="16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❌ Простые компоненты без тяжелых вычислений</a:t>
            </a:r>
            <a:endParaRPr sz="16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❌ Компоненты, которые всегда получают новые props</a:t>
            </a:r>
            <a:endParaRPr sz="16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595959"/>
                </a:solidFill>
                <a:highlight>
                  <a:srgbClr val="FFFFFF"/>
                </a:highlight>
              </a:rPr>
              <a:t>❌ Преждевременная оптимизация без измерений</a:t>
            </a:r>
            <a:endParaRPr b="1" sz="2200">
              <a:solidFill>
                <a:srgbClr val="595959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
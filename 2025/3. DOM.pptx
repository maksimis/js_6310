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a1b5555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a1b5555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a1b55556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a1b55556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a1b55556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a1b55556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c667d130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c667d130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a1b555563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a1b555563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aab9129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aab9129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aab91295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aab91295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c667d13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c667d13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aab91295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aab91295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aab91295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aab91295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aab91295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aab91295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aab91295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aab91295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aab91295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aab91295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aab91295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aab91295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aab91295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aab91295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aab91295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aab91295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aab91295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aab91295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aab91295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7aab91295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04962012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04962012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04962012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04962012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aab91295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7aab91295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04962012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04962012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aab91295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aab91295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content.j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5300" y="238125"/>
            <a:ext cx="8520600" cy="169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DOM - Объектная Модель Документа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22325" y="2877900"/>
            <a:ext cx="4450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Программирование на JavaScript</a:t>
            </a:r>
            <a:br>
              <a:rPr lang="ru" sz="4291"/>
            </a:br>
            <a:r>
              <a:rPr lang="ru" sz="4291"/>
              <a:t>Преподаватель: Исанькин М.А.</a:t>
            </a:r>
            <a:br>
              <a:rPr lang="ru" sz="4291"/>
            </a:br>
            <a:br>
              <a:rPr lang="ru" sz="4291"/>
            </a:br>
            <a:r>
              <a:rPr lang="ru" sz="4291"/>
              <a:t>09.03.01 ИВТ ПИТТП</a:t>
            </a:r>
            <a:endParaRPr sz="429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Группа 6310</a:t>
            </a:r>
            <a:br>
              <a:rPr lang="ru"/>
            </a:br>
            <a:br>
              <a:rPr lang="ru"/>
            </a:br>
            <a:r>
              <a:rPr lang="ru" sz="4291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96050"/>
            <a:ext cx="8839199" cy="269100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04800" y="674350"/>
            <a:ext cx="7586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Document Object Model — объектная модель документа.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Представляет структуру HTML-документа в виде дерева объектов.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Каждый HTML-тег становится узлом (объектом) в этом дереве.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JavaScript может взаимодействовать с этими объектами, изменяя структуру, содержимое и стиль страницы.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101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Что такое DOM?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293450" y="31450"/>
            <a:ext cx="54702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Основы HTML</a:t>
            </a:r>
            <a:endParaRPr/>
          </a:p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00" y="574450"/>
            <a:ext cx="3367075" cy="4487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4525" y="639088"/>
            <a:ext cx="3890358" cy="435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Основы HTML: структура документа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360650" y="2378425"/>
            <a:ext cx="7708500" cy="184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DOCTYPE html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&lt;html&gt;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&lt;title&gt;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Заголовок страницы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&lt;/title&gt;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&lt;meta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charset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UTF-8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"&gt;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&lt;/head&gt;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&lt;body&gt;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&lt;!-- Содержимое страницы --&gt;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&lt;/body&gt;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&lt;/html&gt;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360650" y="854450"/>
            <a:ext cx="758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HTML — язык разметки, определяющий структуру страницы.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Состоит из тегов (элементов), образующих иерархическую структуру.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Основные теги каждого документа: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HTML-теги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360650" y="2378425"/>
            <a:ext cx="7708500" cy="251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&lt;body&gt;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&lt;h1&gt;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Главный заголовок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&lt;/h1&gt;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&lt;p&gt;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Абзац текста с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&lt;span&gt;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строчным элементом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&lt;/span&gt;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&lt;/p&gt;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&lt;div&gt;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&lt;h2&gt;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Подзаголовок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&lt;/h2&gt;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&lt;ul&gt;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&lt;li&gt;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Элемент списка 1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&lt;/li&gt;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&lt;li&gt;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Элемент списка 2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&lt;/li&gt;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&lt;/ul&gt;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&lt;a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href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https://example.com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"&gt;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Ссылка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&lt;/a&gt;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&lt;img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image.jpg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"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alt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Описание изображения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"&gt;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&lt;/div&gt;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&lt;/body&gt;</a:t>
            </a:r>
            <a:endParaRPr sz="950">
              <a:solidFill>
                <a:srgbClr val="66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360650" y="854450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Заголовки: &lt;h1&gt;, &lt;h2&gt;, &lt;h3&gt;, &lt;h4&gt;, &lt;h5&gt;, &lt;h6&gt;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Текст: &lt;p&gt;, &lt;span&gt;, &lt;br&gt;, &lt;hr&gt;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Списки: &lt;ul&gt;, &lt;ol&gt;, &lt;li&gt;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Ссылки и изображения: &lt;a href="..."&gt;, &lt;img src="..." alt="..."&gt;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Блочные и строчные элементы: &lt;div&gt;, &lt;span&gt;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281750"/>
            <a:ext cx="36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Основы CSS: стилизация элементов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4258200" y="185425"/>
            <a:ext cx="4580700" cy="4871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&lt;style&gt;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/* Селектор по тегу */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blue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16px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/* Селектор по классу */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.container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800px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margin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0 auto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padding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20px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border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1px solid #ccc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/* Селектор по id */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#header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#f0f0f0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text-align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center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&lt;/style&gt;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&lt;div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header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"&gt;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&lt;h1&gt;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Заголовок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&lt;/h1&gt;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&lt;/div&gt;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&lt;div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container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"&gt;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&lt;p&gt;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Текст в абзаце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&lt;/p&gt;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&lt;/div&gt;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4" name="Google Shape;94;p18"/>
          <p:cNvSpPr txBox="1"/>
          <p:nvPr/>
        </p:nvSpPr>
        <p:spPr>
          <a:xfrm>
            <a:off x="237150" y="1753000"/>
            <a:ext cx="3775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CSS — каскадные таблицы стилей.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Определяют внешний вид HTML-элементов.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Способы добавления CSS: inline-стили, тег &lt;style&gt;, внешние файлы.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Базовые свойства: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Базовые CSS-свойства</a:t>
            </a:r>
            <a:endParaRPr/>
          </a:p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775" y="879300"/>
            <a:ext cx="3788886" cy="3984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Базовые CSS-свойства</a:t>
            </a:r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360650" y="2021925"/>
            <a:ext cx="7708500" cy="302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.example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color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white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#2c3e50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font-family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Arial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sans-serif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font-size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18px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text-align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center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width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300px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height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200px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margin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10px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padding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20px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border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2px solid #e74c3c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position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relative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block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66CC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360650" y="728925"/>
            <a:ext cx="758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Цвет и фон: color, background-color, background-image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Текст: font-family, font-size, font-weight, text-align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Блок: width, height, margin, padding, border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Позиционирование: position, top, left, display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DOM-дерево: узлы и элементы</a:t>
            </a:r>
            <a:endParaRPr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0" y="854450"/>
            <a:ext cx="3765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Документ — корневой узел.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Элементы — узлы-теги.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Текст — текстовые узлы.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Атрибуты — узлы-атрибуты.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Дерево формируется на вложенности HTML-тегов.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5575" y="726950"/>
            <a:ext cx="5642926" cy="31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Поиск элементов в DOM</a:t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60650" y="2378425"/>
            <a:ext cx="7708500" cy="251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&lt;div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page_wrapper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"&gt;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&lt;p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"&gt;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Первый абзац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&lt;/p&gt;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&lt;p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text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"&gt;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Второй абзац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&lt;/p&gt;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&lt;/div&gt;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&lt;script&gt;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pageWrapper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getElementById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'page_wrapper'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firstParagraph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querySelector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'.text'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allParagraphs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querySelectorAll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'.text'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pageWrapper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Найдет div с id="page_wrapper"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firstParagraph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Найдет первый p с class="text"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allParagraphs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Найдет все p с class="text"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&lt;/script&gt;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360650" y="854450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document.getElementById(id) — поиск по id.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document.querySelector(css_selector) — поиск первого элемента по CSS-селектору.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document.querySelectorAll(css_selector) — поиск всех элементов по CSS-селектору (возвращает NodeList).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Навигация по DOM-дереву</a:t>
            </a:r>
            <a:endParaRPr/>
          </a:p>
        </p:txBody>
      </p:sp>
      <p:sp>
        <p:nvSpPr>
          <p:cNvPr id="131" name="Google Shape;131;p23"/>
          <p:cNvSpPr txBox="1"/>
          <p:nvPr/>
        </p:nvSpPr>
        <p:spPr>
          <a:xfrm>
            <a:off x="311700" y="2571750"/>
            <a:ext cx="7708500" cy="23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&lt;ul&gt;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&lt;li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lfr-nav-item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Первый элемент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&lt;/li&gt;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&lt;li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lfr-nav-item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"&gt;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Второй элемент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&lt;/li&gt;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&lt;li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lfr-nav-item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"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Третий элемент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&lt;/li&gt;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&lt;/ul&gt;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&lt;script&gt;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selectedItem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querySelector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'.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lfr-nav-item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selectedItem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parentElement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&lt;ul&gt;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selectedItem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nextElementSibling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&lt;li class="lfr-nav-item"&gt;Второй элемент&lt;/li&gt;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selectedItem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previousElementSibling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null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selectedItem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parentElement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children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HTMLCollection(3) []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&lt;/script&gt;</a:t>
            </a:r>
            <a:endParaRPr sz="950">
              <a:solidFill>
                <a:srgbClr val="66CC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3" name="Google Shape;133;p23"/>
          <p:cNvSpPr txBox="1"/>
          <p:nvPr/>
        </p:nvSpPr>
        <p:spPr>
          <a:xfrm>
            <a:off x="311700" y="669600"/>
            <a:ext cx="7586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parentElement — родительский элемент.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children — коллекция дочерних элементов.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firstElementChild, lastElementChild — первый/последний дочерний элемент.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previousElementSibling, nextElementSibling — предыдущий/следующий соседний элемент.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136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Изменение содержимого и атрибутов</a:t>
            </a:r>
            <a:endParaRPr/>
          </a:p>
        </p:txBody>
      </p:sp>
      <p:sp>
        <p:nvSpPr>
          <p:cNvPr id="139" name="Google Shape;139;p24"/>
          <p:cNvSpPr txBox="1"/>
          <p:nvPr/>
        </p:nvSpPr>
        <p:spPr>
          <a:xfrm>
            <a:off x="311700" y="2098800"/>
            <a:ext cx="7708500" cy="285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element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querySelector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'#yui_patched'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Работа с содержимым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textContent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'Университет КАИ'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innerHTML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'&lt;strong&gt;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Университет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&lt;/strong&gt;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КАИ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Работа с атрибутами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setAttribute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'data-id'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'123'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id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element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getAttribute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'data-id'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console.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(id);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Работа с классами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classList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'new-class'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classList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remove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-class'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classList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toggle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'active'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добавляет, если нет, иначе удаляет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66CC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0" name="Google Shape;1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1" name="Google Shape;141;p24"/>
          <p:cNvSpPr txBox="1"/>
          <p:nvPr/>
        </p:nvSpPr>
        <p:spPr>
          <a:xfrm>
            <a:off x="311700" y="629975"/>
            <a:ext cx="7586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textContent — получение/установка текстового содержимого.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innerHTML — получение/установка HTML-содержимого.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setAttribute(name, value), getAttribute(name) — работа с атрибутами.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classList — управление CSS-классами.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Изменение стилей элемента</a:t>
            </a:r>
            <a:endParaRPr/>
          </a:p>
        </p:txBody>
      </p:sp>
      <p:sp>
        <p:nvSpPr>
          <p:cNvPr id="147" name="Google Shape;147;p25"/>
          <p:cNvSpPr txBox="1"/>
          <p:nvPr/>
        </p:nvSpPr>
        <p:spPr>
          <a:xfrm>
            <a:off x="311700" y="2358325"/>
            <a:ext cx="7708500" cy="251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pageWrapper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querySelector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'#page_wrapper'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Прямое изменение стилей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pageWrapper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backgroundColor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'black'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pageWrapper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color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'#9b41d4'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pageWrapper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fontSize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'20px'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Через добавление класса (предпочтительнее)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element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classList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'highlighted'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В CSS должен быть стиль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.highlighted { color: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magenta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; background-color: #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000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; font-size: 20px; }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66CC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8" name="Google Shape;14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9" name="Google Shape;149;p25"/>
          <p:cNvSpPr txBox="1"/>
          <p:nvPr/>
        </p:nvSpPr>
        <p:spPr>
          <a:xfrm>
            <a:off x="311700" y="788425"/>
            <a:ext cx="758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element.style.property — изменение конкретного CSS-свойства.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Свойства записываются в camelCase: background-color -&gt; backgroundColor.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Более эффективно — изменение классов через classList.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и добавление элементов</a:t>
            </a:r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4499400" y="888900"/>
            <a:ext cx="4280700" cy="3357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Создаем новый элемент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newDiv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createElement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'div'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newDiv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textContent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'Новый div'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newDiv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classList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add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'box'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Добавляем в конец body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appendChild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newDiv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Вставляем перед существующим элементом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existingElement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querySelector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'#existing'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insertBefore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newDiv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existingElement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Клонируем элемент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clonedDiv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newDiv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cloneNode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appendChild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clonedDiv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66CC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7" name="Google Shape;157;p26"/>
          <p:cNvSpPr txBox="1"/>
          <p:nvPr/>
        </p:nvSpPr>
        <p:spPr>
          <a:xfrm>
            <a:off x="179550" y="854450"/>
            <a:ext cx="4187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document.createElement(tag) — создание нового элемента.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parent.appendChild(element) — добавление элемента в конец родителя.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parent.insertBefore(newElement, referenceElement) — вставка перед определенным элементом.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element.cloneNode(deep) — клонирование существующего элемента.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1170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Удаление элементов</a:t>
            </a:r>
            <a:endParaRPr/>
          </a:p>
        </p:txBody>
      </p:sp>
      <p:sp>
        <p:nvSpPr>
          <p:cNvPr id="163" name="Google Shape;163;p27"/>
          <p:cNvSpPr txBox="1"/>
          <p:nvPr/>
        </p:nvSpPr>
        <p:spPr>
          <a:xfrm>
            <a:off x="338125" y="1624675"/>
            <a:ext cx="7708500" cy="167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elementToRemove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querySelector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'#toRemove'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Современный способ (ES6)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elementToRemove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remove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Старый способ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parent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elementToRemove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parentElement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parent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removeChild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elementToRemove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66CC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5" name="Google Shape;165;p27"/>
          <p:cNvSpPr txBox="1"/>
          <p:nvPr/>
        </p:nvSpPr>
        <p:spPr>
          <a:xfrm>
            <a:off x="338125" y="762025"/>
            <a:ext cx="758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element.remove() — современный метод удаления элемента.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parent.removeChild(element) — старый способ удаления.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 в события</a:t>
            </a:r>
            <a:endParaRPr/>
          </a:p>
        </p:txBody>
      </p:sp>
      <p:sp>
        <p:nvSpPr>
          <p:cNvPr id="171" name="Google Shape;171;p28"/>
          <p:cNvSpPr txBox="1"/>
          <p:nvPr/>
        </p:nvSpPr>
        <p:spPr>
          <a:xfrm>
            <a:off x="276925" y="2055025"/>
            <a:ext cx="7708500" cy="268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button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querySelector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'#myButton'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Добавляем обработчик события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addEventListener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'click'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'Кнопка была нажата!'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Объект события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Удаляем обработчик (нужно передать ту же функцию)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handleClick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'Клик!'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addEventListener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'click'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handleClick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button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removeEventListener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'click'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handleClick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66CC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2" name="Google Shape;17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3" name="Google Shape;173;p28"/>
          <p:cNvSpPr txBox="1"/>
          <p:nvPr/>
        </p:nvSpPr>
        <p:spPr>
          <a:xfrm>
            <a:off x="338125" y="762025"/>
            <a:ext cx="758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События — действия, происходящие на странице (клик, наведение, ввод текста и т.д.).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addEventListener(event, handler) — подписка на событие.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removeEventListener(event, handler) — отписка от события.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276925" y="5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типы событий</a:t>
            </a:r>
            <a:endParaRPr/>
          </a:p>
        </p:txBody>
      </p:sp>
      <p:sp>
        <p:nvSpPr>
          <p:cNvPr id="179" name="Google Shape;179;p29"/>
          <p:cNvSpPr txBox="1"/>
          <p:nvPr/>
        </p:nvSpPr>
        <p:spPr>
          <a:xfrm>
            <a:off x="276925" y="1761825"/>
            <a:ext cx="7708500" cy="318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Событие загрузки DOM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addEventListener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'DOMContentLoaded'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'DOM загружен!'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События мыши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div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querySelector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'#myDiv'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addEventListener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'mouseover'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backgroundColor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'red'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addEventListener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'mouseout'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this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style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backgroundColor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События клавиатуры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addEventListener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'keydown'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`Нажата клавиша: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1" name="Google Shape;181;p29"/>
          <p:cNvSpPr txBox="1"/>
          <p:nvPr/>
        </p:nvSpPr>
        <p:spPr>
          <a:xfrm>
            <a:off x="338125" y="523475"/>
            <a:ext cx="7586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Мышь: click, dblclick, mouseover, mouseout, mousemove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Клавиатура: keydown, keyup, keypress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Формы: submit, change, input, focus, blur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Документ: DOMContentLoaded, load, resize, scroll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70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Объект события</a:t>
            </a:r>
            <a:endParaRPr/>
          </a:p>
        </p:txBody>
      </p:sp>
      <p:sp>
        <p:nvSpPr>
          <p:cNvPr id="187" name="Google Shape;187;p30"/>
          <p:cNvSpPr txBox="1"/>
          <p:nvPr/>
        </p:nvSpPr>
        <p:spPr>
          <a:xfrm>
            <a:off x="311700" y="2674600"/>
            <a:ext cx="7708500" cy="234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link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querySelector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'a'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link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addEventListener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'click'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6CB8E6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Отменяем переход по ссылке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event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preventDefault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`Тип события: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`Целевой элемент: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target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`Координаты: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clientX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${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event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clientY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`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// Всплытие события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document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body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addEventListener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'click'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console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ru" sz="950">
                <a:solidFill>
                  <a:srgbClr val="C699E3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'Клик на body!'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8" name="Google Shape;18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311700" y="550600"/>
            <a:ext cx="7586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При срабатывании события обработчик получает объект события.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Содержит информацию о событии: тип, целевой элемент, координаты и т.д.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event.preventDefault() — отмена стандартного поведения браузера.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event.stopPropagation() — остановка всплытия события.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70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Первое приложение - расширение для Chrome</a:t>
            </a:r>
            <a:endParaRPr/>
          </a:p>
        </p:txBody>
      </p:sp>
      <p:sp>
        <p:nvSpPr>
          <p:cNvPr id="195" name="Google Shape;195;p31"/>
          <p:cNvSpPr txBox="1"/>
          <p:nvPr/>
        </p:nvSpPr>
        <p:spPr>
          <a:xfrm>
            <a:off x="456625" y="1916125"/>
            <a:ext cx="7708500" cy="285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"manifest_version": 3,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"name": "KAI to DARK",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"version": "1.0",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"description": "Добавляет кнопку для переключения темного режима",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"permissions": [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  "activeTab"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],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"content_scripts": [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    "matches": ["https://kai.ru/*"],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    "js": ["content.js"],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    "run_at": "document_idle"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  ]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9AE7E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E9AE7E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6" name="Google Shape;19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7" name="Google Shape;197;p31"/>
          <p:cNvSpPr txBox="1"/>
          <p:nvPr/>
        </p:nvSpPr>
        <p:spPr>
          <a:xfrm>
            <a:off x="311700" y="550600"/>
            <a:ext cx="758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Папка должна содержать два элемента:</a:t>
            </a:r>
            <a:endParaRPr sz="1800">
              <a:solidFill>
                <a:srgbClr val="59595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ru" sz="1800" u="sng">
                <a:solidFill>
                  <a:schemeClr val="hlink"/>
                </a:solidFill>
                <a:hlinkClick r:id="rId3"/>
              </a:rPr>
              <a:t>content.js</a:t>
            </a:r>
            <a:r>
              <a:rPr lang="ru" sz="1800">
                <a:solidFill>
                  <a:srgbClr val="595959"/>
                </a:solidFill>
              </a:rPr>
              <a:t> </a:t>
            </a:r>
            <a:endParaRPr sz="1800">
              <a:solidFill>
                <a:srgbClr val="59595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○"/>
            </a:pPr>
            <a:r>
              <a:rPr lang="ru" sz="1800">
                <a:solidFill>
                  <a:srgbClr val="595959"/>
                </a:solidFill>
              </a:rPr>
              <a:t>manifest.json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98" name="Google Shape;198;p31"/>
          <p:cNvSpPr txBox="1"/>
          <p:nvPr/>
        </p:nvSpPr>
        <p:spPr>
          <a:xfrm>
            <a:off x="311700" y="14544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ru" sz="1800">
                <a:solidFill>
                  <a:schemeClr val="dk2"/>
                </a:solidFill>
              </a:rPr>
              <a:t>manifest.json: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311700" y="70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Первое приложение - расширение для Chrome</a:t>
            </a:r>
            <a:endParaRPr/>
          </a:p>
        </p:txBody>
      </p:sp>
      <p:sp>
        <p:nvSpPr>
          <p:cNvPr id="204" name="Google Shape;20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5" name="Google Shape;205;p32"/>
          <p:cNvSpPr txBox="1"/>
          <p:nvPr/>
        </p:nvSpPr>
        <p:spPr>
          <a:xfrm>
            <a:off x="311700" y="550600"/>
            <a:ext cx="758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chrome://extensions/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Включить developer mode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Загрузить через load unpacked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6675" y="1684375"/>
            <a:ext cx="3956159" cy="327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31170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 лекции</a:t>
            </a:r>
            <a:endParaRPr/>
          </a:p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13" name="Google Shape;213;p33"/>
          <p:cNvSpPr txBox="1"/>
          <p:nvPr/>
        </p:nvSpPr>
        <p:spPr>
          <a:xfrm>
            <a:off x="338125" y="762025"/>
            <a:ext cx="7586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Познакомились с DOM — объектным представлением HTML-документа.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Повторили основы HTML и CSS.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Научились находить элементы в DOM.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Освоили</a:t>
            </a:r>
            <a:r>
              <a:rPr lang="ru" sz="1800">
                <a:solidFill>
                  <a:srgbClr val="595959"/>
                </a:solidFill>
              </a:rPr>
              <a:t> </a:t>
            </a:r>
            <a:r>
              <a:rPr lang="ru" sz="1800">
                <a:solidFill>
                  <a:srgbClr val="595959"/>
                </a:solidFill>
              </a:rPr>
              <a:t>манипуляции с содержимым, стилями и атрибутами.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Научились создавать, добавлять и удалять элементы.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Познакомились с обработкой событий.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14" name="Google Shape;214;p33"/>
          <p:cNvSpPr txBox="1"/>
          <p:nvPr>
            <p:ph type="title"/>
          </p:nvPr>
        </p:nvSpPr>
        <p:spPr>
          <a:xfrm>
            <a:off x="311700" y="2983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Самостоятельное изучение:</a:t>
            </a:r>
            <a:endParaRPr/>
          </a:p>
        </p:txBody>
      </p:sp>
      <p:sp>
        <p:nvSpPr>
          <p:cNvPr id="215" name="Google Shape;215;p33"/>
          <p:cNvSpPr txBox="1"/>
          <p:nvPr/>
        </p:nvSpPr>
        <p:spPr>
          <a:xfrm>
            <a:off x="338125" y="3556225"/>
            <a:ext cx="7586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table, tr, th, td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display=’flex’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HTML Forms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311700" y="66325"/>
            <a:ext cx="8520600" cy="9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Лабораторная работа 3: р</a:t>
            </a:r>
            <a:r>
              <a:rPr lang="ru"/>
              <a:t>асширение для Chrome - смена стиля сайта kai.ru</a:t>
            </a:r>
            <a:endParaRPr/>
          </a:p>
        </p:txBody>
      </p:sp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311700" y="881400"/>
            <a:ext cx="8749800" cy="42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Dark it: Неунывающая классика для вечернего просмотра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Green it: забота о природе важна, даже на сайте КАИ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Sepia / Old Paper: Коричневый фон (</a:t>
            </a:r>
            <a:r>
              <a:rPr lang="ru" sz="1255">
                <a:highlight>
                  <a:srgbClr val="F4ECD8"/>
                </a:highlight>
              </a:rPr>
              <a:t>#f4ecd8</a:t>
            </a:r>
            <a:r>
              <a:rPr lang="ru" sz="1255"/>
              <a:t>), темно-коричневый текст (</a:t>
            </a:r>
            <a:r>
              <a:rPr lang="ru" sz="1255">
                <a:solidFill>
                  <a:srgbClr val="5A4A42"/>
                </a:solidFill>
              </a:rPr>
              <a:t>#5a4a42</a:t>
            </a:r>
            <a:r>
              <a:rPr lang="ru" sz="1255"/>
              <a:t>),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Terminal / Matrix: Черный фон (</a:t>
            </a:r>
            <a:r>
              <a:rPr lang="ru" sz="1255">
                <a:solidFill>
                  <a:schemeClr val="dk1"/>
                </a:solidFill>
              </a:rPr>
              <a:t>#000</a:t>
            </a:r>
            <a:r>
              <a:rPr lang="ru" sz="1255"/>
              <a:t>), зеленый моноширинный текст (</a:t>
            </a:r>
            <a:r>
              <a:rPr lang="ru" sz="1255">
                <a:solidFill>
                  <a:srgbClr val="00FF00"/>
                </a:solidFill>
              </a:rPr>
              <a:t>#00ff00</a:t>
            </a:r>
            <a:r>
              <a:rPr lang="ru" sz="1255"/>
              <a:t>), font-family: monospace;, 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Winter: Зима. Белый фон, синий текст, добавляет снежный градиент или текстуру.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Spring: Весна. Светло-зеленый фон (</a:t>
            </a:r>
            <a:r>
              <a:rPr lang="ru" sz="1255">
                <a:highlight>
                  <a:srgbClr val="F1F8E9"/>
                </a:highlight>
              </a:rPr>
              <a:t>#f1f8e9</a:t>
            </a:r>
            <a:r>
              <a:rPr lang="ru" sz="1255"/>
              <a:t>), цветочные акценты (розовый для ссылок </a:t>
            </a:r>
            <a:r>
              <a:rPr lang="ru" sz="1255">
                <a:solidFill>
                  <a:srgbClr val="FF80AB"/>
                </a:solidFill>
              </a:rPr>
              <a:t>#ff80ab</a:t>
            </a:r>
            <a:r>
              <a:rPr lang="ru" sz="1255"/>
              <a:t>).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Summer: Лето. Ярко-желтый фон (</a:t>
            </a:r>
            <a:r>
              <a:rPr lang="ru" sz="1255">
                <a:highlight>
                  <a:srgbClr val="FFF9C4"/>
                </a:highlight>
              </a:rPr>
              <a:t>#fff9c4</a:t>
            </a:r>
            <a:r>
              <a:rPr lang="ru" sz="1255"/>
              <a:t>), оранжевые заголовки (</a:t>
            </a:r>
            <a:r>
              <a:rPr lang="ru" sz="1255">
                <a:solidFill>
                  <a:srgbClr val="FF6D00"/>
                </a:solidFill>
              </a:rPr>
              <a:t>#ff6d00</a:t>
            </a:r>
            <a:r>
              <a:rPr lang="ru" sz="1255"/>
              <a:t>).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Autumn: Осень. Фон цвета охры (</a:t>
            </a:r>
            <a:r>
              <a:rPr lang="ru" sz="1255">
                <a:highlight>
                  <a:srgbClr val="FFF3E0"/>
                </a:highlight>
              </a:rPr>
              <a:t>#fff3e0</a:t>
            </a:r>
            <a:r>
              <a:rPr lang="ru" sz="1255"/>
              <a:t>), текст коричневых оттенков (</a:t>
            </a:r>
            <a:r>
              <a:rPr lang="ru" sz="1255">
                <a:solidFill>
                  <a:srgbClr val="6D4C41"/>
                </a:solidFill>
              </a:rPr>
              <a:t>#6d4c41</a:t>
            </a:r>
            <a:r>
              <a:rPr lang="ru" sz="1255"/>
              <a:t>).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Rainbow Borders: Добавляет всем изображениям и блокам радужную рамку.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Comic Sans Everything: Повсеместно применяет font-family: "Comic Sans MS", cursive;. Стиль соответствующий.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90's Website: Яркий, кислотный фон, анимированные гифки в качестве курсора, мигающий текст (&lt;blink&gt; через CSS animation).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High Visibility: Неоново-желтый фон (</a:t>
            </a:r>
            <a:r>
              <a:rPr lang="ru" sz="1255">
                <a:highlight>
                  <a:srgbClr val="FFFF00"/>
                </a:highlight>
              </a:rPr>
              <a:t>#ffff00</a:t>
            </a:r>
            <a:r>
              <a:rPr lang="ru" sz="1255"/>
              <a:t>), черный жирный текст. Для строительных сайтов.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Night Vision: Черный фон, ярко-зеленый текст (</a:t>
            </a:r>
            <a:r>
              <a:rPr lang="ru" sz="1255">
                <a:solidFill>
                  <a:srgbClr val="39FF14"/>
                </a:solidFill>
              </a:rPr>
              <a:t>#39ff14</a:t>
            </a:r>
            <a:r>
              <a:rPr lang="ru" sz="1255"/>
              <a:t>), красные ссылки.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Cyberpunk / Neon Noir: Неон, неон, еще раз неон.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Steampunk / Victorian Machinery: Что-то бронзовое и пыхающее паром.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Vaporwave / A E S T H E T I C: Эстетика интернета 90-х/ранних 00-х: пастельные градиенты, греческие статуи, глитчи.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Blue it: Сюрприз для гендер пати, поменяй стиль сайта любимого университета под рождение мальчика</a:t>
            </a:r>
            <a:r>
              <a:rPr lang="ru" sz="1255"/>
              <a:t>!</a:t>
            </a:r>
            <a:r>
              <a:rPr lang="ru" sz="1255"/>
              <a:t> 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Pink it: Сюрприз для гендер пати, поменяй стиль сайта любимого университета</a:t>
            </a:r>
            <a:r>
              <a:rPr lang="ru" sz="1255"/>
              <a:t> под рождение девочки</a:t>
            </a:r>
            <a:r>
              <a:rPr lang="ru" sz="1255"/>
              <a:t>!</a:t>
            </a:r>
            <a:endParaRPr sz="1255"/>
          </a:p>
          <a:p>
            <a:pPr indent="-30829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55"/>
              <a:buAutoNum type="arabicPeriod"/>
            </a:pPr>
            <a:r>
              <a:rPr lang="ru" sz="1255"/>
              <a:t>Настолько плохо, что хорошо - испортить все что только можно. </a:t>
            </a:r>
            <a:endParaRPr sz="1255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3675" y="152400"/>
            <a:ext cx="4838699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5"/>
          <p:cNvSpPr txBox="1"/>
          <p:nvPr/>
        </p:nvSpPr>
        <p:spPr>
          <a:xfrm>
            <a:off x="411025" y="352325"/>
            <a:ext cx="268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Вопросы?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228" name="Google Shape;228;p35"/>
          <p:cNvSpPr/>
          <p:nvPr/>
        </p:nvSpPr>
        <p:spPr>
          <a:xfrm>
            <a:off x="6137925" y="4595175"/>
            <a:ext cx="397200" cy="20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